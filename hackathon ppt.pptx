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embeddedFontLst>
    <p:embeddedFont>
      <p:font typeface="IBM Plex Sans Condensed"/>
      <p:regular r:id="rId201314"/>
    </p:embeddedFont>
    <p:embeddedFont>
      <p:font typeface="IBM Plex Sans Condensed Medium"/>
      <p:regular r:id="rId201315"/>
    </p:embeddedFont>
    <p:embeddedFont>
      <p:font typeface="IBM Plex Sans Condensed SemiBold"/>
      <p:regular r:id="rId201316"/>
    </p:embeddedFont>
    <p:embeddedFont>
      <p:font typeface="IBM Plex Sans Condensed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a student demonstration in Operating Systems, C Programming and Linux. The goal is to show how parent and child processes keep separate values when one process modifies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motivation. Creating processes requires memory management. Copying every memory page immediately may use unnecessary resources, so Copy-on-Write delays copying until a process needs to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program in order. mmap() allocates the shared virtual memory, the initial value is 100, fork() creates the child, the child changes its value to 200, and the parent still reads 100. waitpid() and munmap() complete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terms simply. A process is a program in execution. Virtual memory gives each process its own virtual address space. Copy-on-Write lets pages be shared initially, while a private write creates separation. The parent keeps 100 and the child changes its value to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output to confirm the behavior. Both processes begin with 100. After the child writes 200, the child reads 200 but the parent still reads 100. The program was compiled and run successfully with the shown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to reproduce the demonstration. The README contains project details and setup instructions, the source code is written in C, and it can run on Ubuntu/Linux or Ubuntu on WSL2. Use the terminal-style illustration to show the live commands and values, not a fabricated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emphasizing what the demonstrator makes visible: parent–child process behavior, process creation, Copy-on-Write, and memory isolation. Be clear about the current scope: it demonstrates values, not physical page frames or performance measurements. Future scope includes interactive input, memory-usage measurements, and tools to inspect page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FFFFF"/>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1B3A8F"/>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jpe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12700"/>
          </a:xfrm>
          <a:prstGeom prst="rect">
            <a:avLst/>
          </a:prstGeom>
          <a:solidFill>
            <a:srgbClr val="1B3A8F"/>
          </a:solidFill>
          <a:ln/>
        </p:spPr>
      </p:sp>
      <p:sp>
        <p:nvSpPr>
          <p:cNvPr id="3" name="Shape 1"/>
          <p:cNvSpPr/>
          <p:nvPr/>
        </p:nvSpPr>
        <p:spPr>
          <a:xfrm>
            <a:off x="0" y="6845300"/>
            <a:ext cx="12191695" cy="12700"/>
          </a:xfrm>
          <a:prstGeom prst="rect">
            <a:avLst/>
          </a:prstGeom>
          <a:solidFill>
            <a:srgbClr val="1B3A8F"/>
          </a:solidFill>
          <a:ln/>
        </p:spPr>
      </p:sp>
      <p:sp>
        <p:nvSpPr>
          <p:cNvPr id="4" name="Text 2"/>
          <p:cNvSpPr/>
          <p:nvPr/>
        </p:nvSpPr>
        <p:spPr>
          <a:xfrm>
            <a:off x="355591" y="331121"/>
            <a:ext cx="6959426" cy="135930"/>
          </a:xfrm>
          <a:prstGeom prst="rect">
            <a:avLst/>
          </a:prstGeom>
          <a:noFill/>
          <a:ln/>
        </p:spPr>
        <p:txBody>
          <a:bodyPr wrap="none" lIns="0" tIns="0" rIns="0" bIns="0" rtlCol="0" anchor="t"/>
          <a:lstStyle/>
          <a:p>
            <a:pPr algn="l" indent="0" marL="0">
              <a:lnSpc>
                <a:spcPct val="85000"/>
              </a:lnSpc>
              <a:buNone/>
            </a:pPr>
            <a:r>
              <a:rPr lang="en-US" sz="1050" spc="84" kern="100" dirty="0">
                <a:solidFill>
                  <a:srgbClr val="1B3A8F"/>
                </a:solidFill>
                <a:latin typeface="IBM Plex Sans Condensed SemiBold" pitchFamily="34" charset="0"/>
                <a:ea typeface="IBM Plex Sans Condensed SemiBold" pitchFamily="34" charset="-122"/>
                <a:cs typeface="IBM Plex Sans Condensed SemiBold" pitchFamily="34" charset="-120"/>
              </a:rPr>
              <a:t>OPERATING SYSTEMS · C PROGRAMMING AND LINUX</a:t>
            </a:r>
            <a:endParaRPr lang="en-US" sz="1050" dirty="0"/>
          </a:p>
        </p:txBody>
      </p:sp>
      <p:sp>
        <p:nvSpPr>
          <p:cNvPr id="5" name="Text 3"/>
          <p:cNvSpPr/>
          <p:nvPr/>
        </p:nvSpPr>
        <p:spPr>
          <a:xfrm>
            <a:off x="355591" y="635675"/>
            <a:ext cx="6603835" cy="1889522"/>
          </a:xfrm>
          <a:prstGeom prst="rect">
            <a:avLst/>
          </a:prstGeom>
          <a:noFill/>
          <a:ln/>
        </p:spPr>
        <p:txBody>
          <a:bodyPr wrap="square" lIns="0" tIns="0" rIns="0" bIns="0" rtlCol="0" anchor="t">
            <a:normAutofit/>
          </a:bodyPr>
          <a:lstStyle/>
          <a:p>
            <a:pPr algn="l" indent="0" marL="0">
              <a:lnSpc>
                <a:spcPct val="67000"/>
              </a:lnSpc>
              <a:buNone/>
            </a:pPr>
            <a:r>
              <a:rPr lang="en-US" sz="6200" b="1" spc="-372" kern="100" dirty="0">
                <a:solidFill>
                  <a:srgbClr val="1B3A8F"/>
                </a:solidFill>
                <a:latin typeface="IBM Plex Sans Condensed Bold" pitchFamily="34" charset="0"/>
                <a:ea typeface="IBM Plex Sans Condensed Bold" pitchFamily="34" charset="-122"/>
                <a:cs typeface="IBM Plex Sans Condensed Bold" pitchFamily="34" charset="-120"/>
              </a:rPr>
              <a:t>COPY-ON-WRITE</a:t>
            </a:r>
            <a:endParaRPr lang="en-US" sz="6200" dirty="0"/>
          </a:p>
          <a:p>
            <a:pPr algn="l" indent="0" marL="0">
              <a:lnSpc>
                <a:spcPct val="67000"/>
              </a:lnSpc>
              <a:buNone/>
            </a:pPr>
            <a:r>
              <a:rPr lang="en-US" sz="6200" b="1" spc="-372" kern="100" dirty="0">
                <a:solidFill>
                  <a:srgbClr val="1B3A8F"/>
                </a:solidFill>
                <a:latin typeface="IBM Plex Sans Condensed Bold" pitchFamily="34" charset="0"/>
                <a:ea typeface="IBM Plex Sans Condensed Bold" pitchFamily="34" charset="-122"/>
                <a:cs typeface="IBM Plex Sans Condensed Bold" pitchFamily="34" charset="-120"/>
              </a:rPr>
              <a:t>MEMORY</a:t>
            </a:r>
            <a:endParaRPr lang="en-US" sz="6200" dirty="0"/>
          </a:p>
          <a:p>
            <a:pPr algn="l" indent="0" marL="0">
              <a:lnSpc>
                <a:spcPct val="67000"/>
              </a:lnSpc>
              <a:buNone/>
            </a:pPr>
            <a:r>
              <a:rPr lang="en-US" sz="6200" b="1" spc="-372" kern="100" dirty="0">
                <a:solidFill>
                  <a:srgbClr val="1B3A8F"/>
                </a:solidFill>
                <a:latin typeface="IBM Plex Sans Condensed Bold" pitchFamily="34" charset="0"/>
                <a:ea typeface="IBM Plex Sans Condensed Bold" pitchFamily="34" charset="-122"/>
                <a:cs typeface="IBM Plex Sans Condensed Bold" pitchFamily="34" charset="-120"/>
              </a:rPr>
              <a:t>DEMONSTRATOR</a:t>
            </a:r>
            <a:endParaRPr lang="en-US" sz="6200" dirty="0"/>
          </a:p>
        </p:txBody>
      </p:sp>
      <p:sp>
        <p:nvSpPr>
          <p:cNvPr id="6" name="Shape 4"/>
          <p:cNvSpPr/>
          <p:nvPr/>
        </p:nvSpPr>
        <p:spPr>
          <a:xfrm>
            <a:off x="355591" y="5796161"/>
            <a:ext cx="6603835" cy="19050"/>
          </a:xfrm>
          <a:prstGeom prst="rect">
            <a:avLst/>
          </a:prstGeom>
          <a:solidFill>
            <a:srgbClr val="1B3A8F"/>
          </a:solidFill>
          <a:ln/>
        </p:spPr>
      </p:sp>
      <p:sp>
        <p:nvSpPr>
          <p:cNvPr id="7" name="Shape 5"/>
          <p:cNvSpPr/>
          <p:nvPr/>
        </p:nvSpPr>
        <p:spPr>
          <a:xfrm>
            <a:off x="355591" y="6451600"/>
            <a:ext cx="6603835" cy="12700"/>
          </a:xfrm>
          <a:prstGeom prst="rect">
            <a:avLst/>
          </a:prstGeom>
          <a:solidFill>
            <a:srgbClr val="1B3A8F"/>
          </a:solidFill>
          <a:ln/>
        </p:spPr>
      </p:sp>
      <p:sp>
        <p:nvSpPr>
          <p:cNvPr id="8" name="Text 6"/>
          <p:cNvSpPr/>
          <p:nvPr/>
        </p:nvSpPr>
        <p:spPr>
          <a:xfrm>
            <a:off x="355591" y="5828832"/>
            <a:ext cx="2201212" cy="135930"/>
          </a:xfrm>
          <a:prstGeom prst="rect">
            <a:avLst/>
          </a:prstGeom>
          <a:noFill/>
          <a:ln/>
        </p:spPr>
        <p:txBody>
          <a:bodyPr wrap="none" lIns="0" tIns="0" rIns="0" bIns="0" rtlCol="0" anchor="t"/>
          <a:lstStyle/>
          <a:p>
            <a:pPr algn="l" indent="0" marL="0">
              <a:lnSpc>
                <a:spcPct val="85000"/>
              </a:lnSpc>
              <a:buNone/>
            </a:pPr>
            <a:r>
              <a:rPr lang="en-US" sz="1050" spc="84" kern="100" dirty="0">
                <a:solidFill>
                  <a:srgbClr val="1B3A8F"/>
                </a:solidFill>
                <a:latin typeface="IBM Plex Sans Condensed SemiBold" pitchFamily="34" charset="0"/>
                <a:ea typeface="IBM Plex Sans Condensed SemiBold" pitchFamily="34" charset="-122"/>
                <a:cs typeface="IBM Plex Sans Condensed SemiBold" pitchFamily="34" charset="-120"/>
              </a:rPr>
              <a:t>TEAM MEMBER</a:t>
            </a:r>
            <a:endParaRPr lang="en-US" sz="1050" dirty="0"/>
          </a:p>
        </p:txBody>
      </p:sp>
      <p:sp>
        <p:nvSpPr>
          <p:cNvPr id="9" name="Text 7"/>
          <p:cNvSpPr/>
          <p:nvPr/>
        </p:nvSpPr>
        <p:spPr>
          <a:xfrm>
            <a:off x="355591" y="6030262"/>
            <a:ext cx="2086915" cy="433784"/>
          </a:xfrm>
          <a:prstGeom prst="rect">
            <a:avLst/>
          </a:prstGeom>
          <a:noFill/>
          <a:ln/>
        </p:spPr>
        <p:txBody>
          <a:bodyPr wrap="square" lIns="0" tIns="0" rIns="0" bIns="0" rtlCol="0" anchor="t">
            <a:normAutofit/>
          </a:bodyPr>
          <a:lstStyle/>
          <a:p>
            <a:pPr algn="l" indent="0" marL="0">
              <a:lnSpc>
                <a:spcPct val="102000"/>
              </a:lnSpc>
              <a:buNone/>
            </a:pPr>
            <a:r>
              <a:rPr lang="en-US" sz="1400" dirty="0">
                <a:solidFill>
                  <a:srgbClr val="1B3A8F"/>
                </a:solidFill>
                <a:latin typeface="IBM Plex Sans Condensed" pitchFamily="34" charset="0"/>
                <a:ea typeface="IBM Plex Sans Condensed" pitchFamily="34" charset="-122"/>
                <a:cs typeface="IBM Plex Sans Condensed" pitchFamily="34" charset="-120"/>
              </a:rPr>
              <a:t>2520090081 — SAI RAM PRAGNEY MURIKIPUDI</a:t>
            </a:r>
            <a:endParaRPr lang="en-US" sz="1400" dirty="0"/>
          </a:p>
        </p:txBody>
      </p:sp>
      <p:sp>
        <p:nvSpPr>
          <p:cNvPr id="10" name="Text 8"/>
          <p:cNvSpPr/>
          <p:nvPr/>
        </p:nvSpPr>
        <p:spPr>
          <a:xfrm>
            <a:off x="2671100" y="5828832"/>
            <a:ext cx="2087014" cy="135930"/>
          </a:xfrm>
          <a:prstGeom prst="rect">
            <a:avLst/>
          </a:prstGeom>
          <a:noFill/>
          <a:ln/>
        </p:spPr>
        <p:txBody>
          <a:bodyPr wrap="none" lIns="0" tIns="0" rIns="0" bIns="0" rtlCol="0" anchor="t"/>
          <a:lstStyle/>
          <a:p>
            <a:pPr algn="l" indent="0" marL="0">
              <a:lnSpc>
                <a:spcPct val="85000"/>
              </a:lnSpc>
              <a:buNone/>
            </a:pPr>
            <a:r>
              <a:rPr lang="en-US" sz="1050" spc="84" kern="100" dirty="0">
                <a:solidFill>
                  <a:srgbClr val="1B3A8F"/>
                </a:solidFill>
                <a:latin typeface="IBM Plex Sans Condensed SemiBold" pitchFamily="34" charset="0"/>
                <a:ea typeface="IBM Plex Sans Condensed SemiBold" pitchFamily="34" charset="-122"/>
                <a:cs typeface="IBM Plex Sans Condensed SemiBold" pitchFamily="34" charset="-120"/>
              </a:rPr>
              <a:t>TEAM MEMBER</a:t>
            </a:r>
            <a:endParaRPr lang="en-US" sz="1050" dirty="0"/>
          </a:p>
        </p:txBody>
      </p:sp>
      <p:sp>
        <p:nvSpPr>
          <p:cNvPr id="11" name="Text 9"/>
          <p:cNvSpPr/>
          <p:nvPr/>
        </p:nvSpPr>
        <p:spPr>
          <a:xfrm>
            <a:off x="2671100" y="6030262"/>
            <a:ext cx="1972717" cy="433784"/>
          </a:xfrm>
          <a:prstGeom prst="rect">
            <a:avLst/>
          </a:prstGeom>
          <a:noFill/>
          <a:ln/>
        </p:spPr>
        <p:txBody>
          <a:bodyPr wrap="square" lIns="0" tIns="0" rIns="0" bIns="0" rtlCol="0" anchor="t">
            <a:normAutofit/>
          </a:bodyPr>
          <a:lstStyle/>
          <a:p>
            <a:pPr algn="l" indent="0" marL="0">
              <a:lnSpc>
                <a:spcPct val="102000"/>
              </a:lnSpc>
              <a:buNone/>
            </a:pPr>
            <a:r>
              <a:rPr lang="en-US" sz="1400" dirty="0">
                <a:solidFill>
                  <a:srgbClr val="1B3A8F"/>
                </a:solidFill>
                <a:latin typeface="IBM Plex Sans Condensed" pitchFamily="34" charset="0"/>
                <a:ea typeface="IBM Plex Sans Condensed" pitchFamily="34" charset="-122"/>
                <a:cs typeface="IBM Plex Sans Condensed" pitchFamily="34" charset="-120"/>
              </a:rPr>
              <a:t>2520090194 — NAMAN MASINENI</a:t>
            </a:r>
            <a:endParaRPr lang="en-US" sz="1400" dirty="0"/>
          </a:p>
        </p:txBody>
      </p:sp>
      <p:sp>
        <p:nvSpPr>
          <p:cNvPr id="12" name="Text 10"/>
          <p:cNvSpPr/>
          <p:nvPr/>
        </p:nvSpPr>
        <p:spPr>
          <a:xfrm>
            <a:off x="4872412" y="5828832"/>
            <a:ext cx="2086915" cy="135930"/>
          </a:xfrm>
          <a:prstGeom prst="rect">
            <a:avLst/>
          </a:prstGeom>
          <a:noFill/>
          <a:ln/>
        </p:spPr>
        <p:txBody>
          <a:bodyPr wrap="none" lIns="0" tIns="0" rIns="0" bIns="0" rtlCol="0" anchor="t"/>
          <a:lstStyle/>
          <a:p>
            <a:pPr algn="l" indent="0" marL="0">
              <a:lnSpc>
                <a:spcPct val="85000"/>
              </a:lnSpc>
              <a:buNone/>
            </a:pPr>
            <a:r>
              <a:rPr lang="en-US" sz="1050" spc="84" kern="100" dirty="0">
                <a:solidFill>
                  <a:srgbClr val="1B3A8F"/>
                </a:solidFill>
                <a:latin typeface="IBM Plex Sans Condensed SemiBold" pitchFamily="34" charset="0"/>
                <a:ea typeface="IBM Plex Sans Condensed SemiBold" pitchFamily="34" charset="-122"/>
                <a:cs typeface="IBM Plex Sans Condensed SemiBold" pitchFamily="34" charset="-120"/>
              </a:rPr>
              <a:t>TEAM MEMBER</a:t>
            </a:r>
            <a:endParaRPr lang="en-US" sz="1050" dirty="0"/>
          </a:p>
        </p:txBody>
      </p:sp>
      <p:sp>
        <p:nvSpPr>
          <p:cNvPr id="13" name="Text 11"/>
          <p:cNvSpPr/>
          <p:nvPr/>
        </p:nvSpPr>
        <p:spPr>
          <a:xfrm>
            <a:off x="4872412" y="6030262"/>
            <a:ext cx="2086915" cy="433784"/>
          </a:xfrm>
          <a:prstGeom prst="rect">
            <a:avLst/>
          </a:prstGeom>
          <a:noFill/>
          <a:ln/>
        </p:spPr>
        <p:txBody>
          <a:bodyPr wrap="square" lIns="0" tIns="0" rIns="0" bIns="0" rtlCol="0" anchor="t">
            <a:normAutofit/>
          </a:bodyPr>
          <a:lstStyle/>
          <a:p>
            <a:pPr algn="l" indent="0" marL="0">
              <a:lnSpc>
                <a:spcPct val="102000"/>
              </a:lnSpc>
              <a:buNone/>
            </a:pPr>
            <a:r>
              <a:rPr lang="en-US" sz="1400" dirty="0">
                <a:solidFill>
                  <a:srgbClr val="1B3A8F"/>
                </a:solidFill>
                <a:latin typeface="IBM Plex Sans Condensed" pitchFamily="34" charset="0"/>
                <a:ea typeface="IBM Plex Sans Condensed" pitchFamily="34" charset="-122"/>
                <a:cs typeface="IBM Plex Sans Condensed" pitchFamily="34" charset="-120"/>
              </a:rPr>
              <a:t>2520090131 — RISHI PRADYUMAN VADLAMUDI</a:t>
            </a:r>
            <a:endParaRPr lang="en-US" sz="1400" dirty="0"/>
          </a:p>
        </p:txBody>
      </p:sp>
      <p:pic>
        <p:nvPicPr>
          <p:cNvPr id="14" name="Image 0" descr="preencoded.png">    </p:cNvPr>
          <p:cNvPicPr>
            <a:picLocks noChangeAspect="1"/>
          </p:cNvPicPr>
          <p:nvPr/>
        </p:nvPicPr>
        <p:blipFill>
          <a:blip r:embed="rId1"/>
          <a:stretch>
            <a:fillRect/>
          </a:stretch>
        </p:blipFill>
        <p:spPr>
          <a:xfrm>
            <a:off x="7594410" y="1108770"/>
            <a:ext cx="4317892" cy="2315468"/>
          </a:xfrm>
          <a:prstGeom prst="rect">
            <a:avLst/>
          </a:prstGeom>
        </p:spPr>
      </p:pic>
      <p:sp>
        <p:nvSpPr>
          <p:cNvPr id="15" name="Text 12"/>
          <p:cNvSpPr/>
          <p:nvPr/>
        </p:nvSpPr>
        <p:spPr>
          <a:xfrm>
            <a:off x="8751243" y="1310320"/>
            <a:ext cx="1995570" cy="119374"/>
          </a:xfrm>
          <a:prstGeom prst="rect">
            <a:avLst/>
          </a:prstGeom>
          <a:noFill/>
          <a:ln/>
        </p:spPr>
        <p:txBody>
          <a:bodyPr wrap="none" lIns="0" tIns="0" rIns="0" bIns="0" rtlCol="0" anchor="t"/>
          <a:lstStyle/>
          <a:p>
            <a:pPr algn="ctr" indent="0" marL="0">
              <a:lnSpc>
                <a:spcPct val="102000"/>
              </a:lnSpc>
              <a:buNone/>
            </a:pPr>
            <a:r>
              <a:rPr lang="en-US" sz="750" b="1" spc="-27" kern="100" dirty="0">
                <a:solidFill>
                  <a:srgbClr val="FFFFFF"/>
                </a:solidFill>
                <a:latin typeface="IBM Plex Sans Condensed Bold" pitchFamily="34" charset="0"/>
                <a:ea typeface="IBM Plex Sans Condensed Bold" pitchFamily="34" charset="-122"/>
                <a:cs typeface="IBM Plex Sans Condensed Bold" pitchFamily="34" charset="-120"/>
              </a:rPr>
              <a:t>COPY-ON-WRITE MEMORY DEMONSTRATOR</a:t>
            </a:r>
            <a:endParaRPr lang="en-US" sz="750" dirty="0"/>
          </a:p>
        </p:txBody>
      </p:sp>
      <p:sp>
        <p:nvSpPr>
          <p:cNvPr id="16" name="Text 13"/>
          <p:cNvSpPr/>
          <p:nvPr/>
        </p:nvSpPr>
        <p:spPr>
          <a:xfrm>
            <a:off x="7814277" y="2594240"/>
            <a:ext cx="972238" cy="119374"/>
          </a:xfrm>
          <a:prstGeom prst="rect">
            <a:avLst/>
          </a:prstGeom>
          <a:noFill/>
          <a:ln/>
        </p:spPr>
        <p:txBody>
          <a:bodyPr wrap="none" lIns="0" tIns="0" rIns="0" bIns="0" rtlCol="0" anchor="t"/>
          <a:lstStyle/>
          <a:p>
            <a:pPr algn="ctr" indent="0" marL="0">
              <a:lnSpc>
                <a:spcPct val="102000"/>
              </a:lnSpc>
              <a:buNone/>
            </a:pPr>
            <a:r>
              <a:rPr lang="en-US" sz="750" b="1" spc="-27" kern="100" dirty="0">
                <a:solidFill>
                  <a:srgbClr val="1B3A8F"/>
                </a:solidFill>
                <a:latin typeface="IBM Plex Sans Condensed Bold" pitchFamily="34" charset="0"/>
                <a:ea typeface="IBM Plex Sans Condensed Bold" pitchFamily="34" charset="-122"/>
                <a:cs typeface="IBM Plex Sans Condensed Bold" pitchFamily="34" charset="-120"/>
              </a:rPr>
              <a:t>PARENT PROCESS</a:t>
            </a:r>
            <a:endParaRPr lang="en-US" sz="750" dirty="0"/>
          </a:p>
        </p:txBody>
      </p:sp>
      <p:sp>
        <p:nvSpPr>
          <p:cNvPr id="17" name="Text 14"/>
          <p:cNvSpPr/>
          <p:nvPr/>
        </p:nvSpPr>
        <p:spPr>
          <a:xfrm>
            <a:off x="7814277" y="2774965"/>
            <a:ext cx="972238" cy="124771"/>
          </a:xfrm>
          <a:prstGeom prst="rect">
            <a:avLst/>
          </a:prstGeom>
          <a:noFill/>
          <a:ln/>
        </p:spPr>
        <p:txBody>
          <a:bodyPr wrap="none" lIns="0" tIns="0" rIns="0" bIns="0" rtlCol="0" anchor="t"/>
          <a:lstStyle/>
          <a:p>
            <a:pPr algn="ctr" indent="0" marL="0">
              <a:lnSpc>
                <a:spcPct val="102000"/>
              </a:lnSpc>
              <a:buNone/>
            </a:pPr>
            <a:r>
              <a:rPr lang="en-US" sz="800" dirty="0">
                <a:solidFill>
                  <a:srgbClr val="1B3A8F"/>
                </a:solidFill>
                <a:latin typeface="IBM Plex Sans Condensed" pitchFamily="34" charset="0"/>
                <a:ea typeface="IBM Plex Sans Condensed" pitchFamily="34" charset="-122"/>
                <a:cs typeface="IBM Plex Sans Condensed" pitchFamily="34" charset="-120"/>
              </a:rPr>
              <a:t>original memory owner</a:t>
            </a:r>
            <a:endParaRPr lang="en-US" sz="800" dirty="0"/>
          </a:p>
        </p:txBody>
      </p:sp>
      <p:pic>
        <p:nvPicPr>
          <p:cNvPr id="18" name="Image 1" descr="preencoded.png">    </p:cNvPr>
          <p:cNvPicPr>
            <a:picLocks noChangeAspect="1"/>
          </p:cNvPicPr>
          <p:nvPr/>
        </p:nvPicPr>
        <p:blipFill>
          <a:blip r:embed="rId2"/>
          <a:stretch>
            <a:fillRect/>
          </a:stretch>
        </p:blipFill>
        <p:spPr>
          <a:xfrm>
            <a:off x="8190291" y="2101902"/>
            <a:ext cx="215893" cy="215898"/>
          </a:xfrm>
          <a:prstGeom prst="rect">
            <a:avLst/>
          </a:prstGeom>
        </p:spPr>
      </p:pic>
      <p:sp>
        <p:nvSpPr>
          <p:cNvPr id="19" name="Text 15"/>
          <p:cNvSpPr/>
          <p:nvPr/>
        </p:nvSpPr>
        <p:spPr>
          <a:xfrm>
            <a:off x="9269396" y="2736733"/>
            <a:ext cx="972238" cy="119374"/>
          </a:xfrm>
          <a:prstGeom prst="rect">
            <a:avLst/>
          </a:prstGeom>
          <a:noFill/>
          <a:ln/>
        </p:spPr>
        <p:txBody>
          <a:bodyPr wrap="none" lIns="0" tIns="0" rIns="0" bIns="0" rtlCol="0" anchor="t"/>
          <a:lstStyle/>
          <a:p>
            <a:pPr algn="ctr" indent="0" marL="0">
              <a:lnSpc>
                <a:spcPct val="102000"/>
              </a:lnSpc>
              <a:buNone/>
            </a:pPr>
            <a:r>
              <a:rPr lang="en-US" sz="750" b="1" spc="-27" kern="100" dirty="0">
                <a:solidFill>
                  <a:srgbClr val="1B3A8F"/>
                </a:solidFill>
                <a:latin typeface="IBM Plex Sans Condensed Bold" pitchFamily="34" charset="0"/>
                <a:ea typeface="IBM Plex Sans Condensed Bold" pitchFamily="34" charset="-122"/>
                <a:cs typeface="IBM Plex Sans Condensed Bold" pitchFamily="34" charset="-120"/>
              </a:rPr>
              <a:t>CHILD PROCESS</a:t>
            </a:r>
            <a:endParaRPr lang="en-US" sz="750" dirty="0"/>
          </a:p>
        </p:txBody>
      </p:sp>
      <p:sp>
        <p:nvSpPr>
          <p:cNvPr id="20" name="Text 16"/>
          <p:cNvSpPr/>
          <p:nvPr/>
        </p:nvSpPr>
        <p:spPr>
          <a:xfrm>
            <a:off x="9269396" y="2917458"/>
            <a:ext cx="972238" cy="124771"/>
          </a:xfrm>
          <a:prstGeom prst="rect">
            <a:avLst/>
          </a:prstGeom>
          <a:noFill/>
          <a:ln/>
        </p:spPr>
        <p:txBody>
          <a:bodyPr wrap="none" lIns="0" tIns="0" rIns="0" bIns="0" rtlCol="0" anchor="t"/>
          <a:lstStyle/>
          <a:p>
            <a:pPr algn="ctr" indent="0" marL="0">
              <a:lnSpc>
                <a:spcPct val="102000"/>
              </a:lnSpc>
              <a:buNone/>
            </a:pPr>
            <a:r>
              <a:rPr lang="en-US" sz="800" dirty="0">
                <a:solidFill>
                  <a:srgbClr val="1B3A8F"/>
                </a:solidFill>
                <a:latin typeface="IBM Plex Sans Condensed" pitchFamily="34" charset="0"/>
                <a:ea typeface="IBM Plex Sans Condensed" pitchFamily="34" charset="-122"/>
                <a:cs typeface="IBM Plex Sans Condensed" pitchFamily="34" charset="-120"/>
              </a:rPr>
              <a:t>forked duplicate</a:t>
            </a:r>
            <a:endParaRPr lang="en-US" sz="800" dirty="0"/>
          </a:p>
        </p:txBody>
      </p:sp>
      <p:pic>
        <p:nvPicPr>
          <p:cNvPr id="21" name="Image 2" descr="preencoded.png">    </p:cNvPr>
          <p:cNvPicPr>
            <a:picLocks noChangeAspect="1"/>
          </p:cNvPicPr>
          <p:nvPr/>
        </p:nvPicPr>
        <p:blipFill>
          <a:blip r:embed="rId3"/>
          <a:stretch>
            <a:fillRect/>
          </a:stretch>
        </p:blipFill>
        <p:spPr>
          <a:xfrm>
            <a:off x="9645409" y="2248713"/>
            <a:ext cx="215893" cy="215898"/>
          </a:xfrm>
          <a:prstGeom prst="rect">
            <a:avLst/>
          </a:prstGeom>
        </p:spPr>
      </p:pic>
      <p:sp>
        <p:nvSpPr>
          <p:cNvPr id="22" name="Text 17"/>
          <p:cNvSpPr/>
          <p:nvPr/>
        </p:nvSpPr>
        <p:spPr>
          <a:xfrm>
            <a:off x="10724514" y="2585604"/>
            <a:ext cx="972239" cy="119374"/>
          </a:xfrm>
          <a:prstGeom prst="rect">
            <a:avLst/>
          </a:prstGeom>
          <a:noFill/>
          <a:ln/>
        </p:spPr>
        <p:txBody>
          <a:bodyPr wrap="none" lIns="0" tIns="0" rIns="0" bIns="0" rtlCol="0" anchor="t"/>
          <a:lstStyle/>
          <a:p>
            <a:pPr algn="ctr" indent="0" marL="0">
              <a:lnSpc>
                <a:spcPct val="102000"/>
              </a:lnSpc>
              <a:buNone/>
            </a:pPr>
            <a:r>
              <a:rPr lang="en-US" sz="750" b="1" spc="-27" kern="100" dirty="0">
                <a:solidFill>
                  <a:srgbClr val="1B3A8F"/>
                </a:solidFill>
                <a:latin typeface="IBM Plex Sans Condensed Bold" pitchFamily="34" charset="0"/>
                <a:ea typeface="IBM Plex Sans Condensed Bold" pitchFamily="34" charset="-122"/>
                <a:cs typeface="IBM Plex Sans Condensed Bold" pitchFamily="34" charset="-120"/>
              </a:rPr>
              <a:t>SEPARATE VALUES</a:t>
            </a:r>
            <a:endParaRPr lang="en-US" sz="750" dirty="0"/>
          </a:p>
        </p:txBody>
      </p:sp>
      <p:sp>
        <p:nvSpPr>
          <p:cNvPr id="23" name="Text 18"/>
          <p:cNvSpPr/>
          <p:nvPr/>
        </p:nvSpPr>
        <p:spPr>
          <a:xfrm>
            <a:off x="10724514" y="2766329"/>
            <a:ext cx="972239" cy="124771"/>
          </a:xfrm>
          <a:prstGeom prst="rect">
            <a:avLst/>
          </a:prstGeom>
          <a:noFill/>
          <a:ln/>
        </p:spPr>
        <p:txBody>
          <a:bodyPr wrap="none" lIns="0" tIns="0" rIns="0" bIns="0" rtlCol="0" anchor="t"/>
          <a:lstStyle/>
          <a:p>
            <a:pPr algn="ctr" indent="0" marL="0">
              <a:lnSpc>
                <a:spcPct val="102000"/>
              </a:lnSpc>
              <a:buNone/>
            </a:pPr>
            <a:r>
              <a:rPr lang="en-US" sz="800" dirty="0">
                <a:solidFill>
                  <a:srgbClr val="1B3A8F"/>
                </a:solidFill>
                <a:latin typeface="IBM Plex Sans Condensed" pitchFamily="34" charset="0"/>
                <a:ea typeface="IBM Plex Sans Condensed" pitchFamily="34" charset="-122"/>
                <a:cs typeface="IBM Plex Sans Condensed" pitchFamily="34" charset="-120"/>
              </a:rPr>
              <a:t>copy on write trigger</a:t>
            </a:r>
            <a:endParaRPr lang="en-US" sz="800" dirty="0"/>
          </a:p>
        </p:txBody>
      </p:sp>
      <p:pic>
        <p:nvPicPr>
          <p:cNvPr id="24" name="Image 3" descr="preencoded.png">    </p:cNvPr>
          <p:cNvPicPr>
            <a:picLocks noChangeAspect="1"/>
          </p:cNvPicPr>
          <p:nvPr/>
        </p:nvPicPr>
        <p:blipFill>
          <a:blip r:embed="rId4"/>
          <a:stretch>
            <a:fillRect/>
          </a:stretch>
        </p:blipFill>
        <p:spPr>
          <a:xfrm>
            <a:off x="11100528" y="2084630"/>
            <a:ext cx="215893" cy="215898"/>
          </a:xfrm>
          <a:prstGeom prst="rect">
            <a:avLst/>
          </a:prstGeom>
        </p:spPr>
      </p:pic>
      <p:pic>
        <p:nvPicPr>
          <p:cNvPr id="25" name="Image 4" descr="preencoded.png">    </p:cNvPr>
          <p:cNvPicPr>
            <a:picLocks noChangeAspect="1"/>
          </p:cNvPicPr>
          <p:nvPr/>
        </p:nvPicPr>
        <p:blipFill>
          <a:blip r:embed="rId5"/>
          <a:stretch>
            <a:fillRect/>
          </a:stretch>
        </p:blipFill>
        <p:spPr>
          <a:xfrm>
            <a:off x="7594410" y="3525838"/>
            <a:ext cx="3361646" cy="1904901"/>
          </a:xfrm>
          <a:prstGeom prst="rect">
            <a:avLst/>
          </a:prstGeom>
        </p:spPr>
      </p:pic>
      <p:sp>
        <p:nvSpPr>
          <p:cNvPr id="26" name="Text 19"/>
          <p:cNvSpPr/>
          <p:nvPr/>
        </p:nvSpPr>
        <p:spPr>
          <a:xfrm>
            <a:off x="7594410" y="5544784"/>
            <a:ext cx="4597285" cy="216892"/>
          </a:xfrm>
          <a:prstGeom prst="rect">
            <a:avLst/>
          </a:prstGeom>
          <a:noFill/>
          <a:ln/>
        </p:spPr>
        <p:txBody>
          <a:bodyPr wrap="none" lIns="0" tIns="0" rIns="0" bIns="0" rtlCol="0" anchor="t"/>
          <a:lstStyle/>
          <a:p>
            <a:pPr algn="l" indent="0" marL="0">
              <a:lnSpc>
                <a:spcPct val="102000"/>
              </a:lnSpc>
              <a:buNone/>
            </a:pPr>
            <a:r>
              <a:rPr lang="en-US" sz="1400" dirty="0">
                <a:solidFill>
                  <a:srgbClr val="1B3A8F"/>
                </a:solidFill>
                <a:latin typeface="IBM Plex Sans Condensed" pitchFamily="34" charset="0"/>
                <a:ea typeface="IBM Plex Sans Condensed" pitchFamily="34" charset="-122"/>
                <a:cs typeface="IBM Plex Sans Condensed" pitchFamily="34" charset="-120"/>
              </a:rPr>
              <a:t>,</a:t>
            </a:r>
            <a:endParaRPr lang="en-US" sz="1400" dirty="0"/>
          </a:p>
        </p:txBody>
      </p:sp>
      <p:sp>
        <p:nvSpPr>
          <p:cNvPr id="27" name="Shape 20"/>
          <p:cNvSpPr/>
          <p:nvPr/>
        </p:nvSpPr>
        <p:spPr>
          <a:xfrm>
            <a:off x="2550453" y="5815211"/>
            <a:ext cx="12700" cy="636389"/>
          </a:xfrm>
          <a:prstGeom prst="rect">
            <a:avLst/>
          </a:prstGeom>
          <a:solidFill>
            <a:srgbClr val="1B3A8F">
              <a:alpha val="36000"/>
            </a:srgbClr>
          </a:solidFill>
          <a:ln/>
        </p:spPr>
      </p:sp>
      <p:sp>
        <p:nvSpPr>
          <p:cNvPr id="28" name="Shape 21"/>
          <p:cNvSpPr/>
          <p:nvPr/>
        </p:nvSpPr>
        <p:spPr>
          <a:xfrm>
            <a:off x="4751765" y="5815211"/>
            <a:ext cx="12700" cy="636389"/>
          </a:xfrm>
          <a:prstGeom prst="rect">
            <a:avLst/>
          </a:prstGeom>
          <a:solidFill>
            <a:srgbClr val="1B3A8F">
              <a:alpha val="36000"/>
            </a:srgbClr>
          </a:solidFill>
          <a:ln/>
        </p:spPr>
      </p:sp>
      <p:sp>
        <p:nvSpPr>
          <p:cNvPr id="29" name="Shape 22"/>
          <p:cNvSpPr/>
          <p:nvPr/>
        </p:nvSpPr>
        <p:spPr>
          <a:xfrm>
            <a:off x="7302317" y="12700"/>
            <a:ext cx="25399" cy="6832600"/>
          </a:xfrm>
          <a:prstGeom prst="rect">
            <a:avLst/>
          </a:prstGeom>
          <a:solidFill>
            <a:srgbClr val="1B3A8F">
              <a:alpha val="36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12700"/>
          </a:xfrm>
          <a:prstGeom prst="rect">
            <a:avLst/>
          </a:prstGeom>
          <a:solidFill>
            <a:srgbClr val="1B3A8F"/>
          </a:solidFill>
          <a:ln/>
        </p:spPr>
      </p:sp>
      <p:sp>
        <p:nvSpPr>
          <p:cNvPr id="3" name="Shape 1"/>
          <p:cNvSpPr/>
          <p:nvPr/>
        </p:nvSpPr>
        <p:spPr>
          <a:xfrm>
            <a:off x="0" y="6845300"/>
            <a:ext cx="12191695" cy="12700"/>
          </a:xfrm>
          <a:prstGeom prst="rect">
            <a:avLst/>
          </a:prstGeom>
          <a:solidFill>
            <a:srgbClr val="1B3A8F"/>
          </a:solidFill>
          <a:ln/>
        </p:spPr>
      </p:sp>
      <p:sp>
        <p:nvSpPr>
          <p:cNvPr id="4" name="Shape 2"/>
          <p:cNvSpPr/>
          <p:nvPr/>
        </p:nvSpPr>
        <p:spPr>
          <a:xfrm>
            <a:off x="0" y="12700"/>
            <a:ext cx="4876678" cy="6832600"/>
          </a:xfrm>
          <a:prstGeom prst="rect">
            <a:avLst/>
          </a:prstGeom>
          <a:solidFill>
            <a:srgbClr val="1B3A8F"/>
          </a:solidFill>
          <a:ln/>
        </p:spPr>
      </p:sp>
      <p:sp>
        <p:nvSpPr>
          <p:cNvPr id="5" name="Text 3"/>
          <p:cNvSpPr/>
          <p:nvPr/>
        </p:nvSpPr>
        <p:spPr>
          <a:xfrm>
            <a:off x="355591" y="407321"/>
            <a:ext cx="4521087" cy="135930"/>
          </a:xfrm>
          <a:prstGeom prst="rect">
            <a:avLst/>
          </a:prstGeom>
          <a:noFill/>
          <a:ln/>
        </p:spPr>
        <p:txBody>
          <a:bodyPr wrap="none" lIns="0" tIns="0" rIns="0" bIns="0" rtlCol="0" anchor="t"/>
          <a:lstStyle/>
          <a:p>
            <a:pPr algn="l" indent="0" marL="0">
              <a:lnSpc>
                <a:spcPct val="85000"/>
              </a:lnSpc>
              <a:buNone/>
            </a:pPr>
            <a:r>
              <a:rPr lang="en-US" sz="1050" spc="84" kern="100" dirty="0">
                <a:solidFill>
                  <a:srgbClr val="FFFFFF"/>
                </a:solidFill>
                <a:latin typeface="IBM Plex Sans Condensed SemiBold" pitchFamily="34" charset="0"/>
                <a:ea typeface="IBM Plex Sans Condensed SemiBold" pitchFamily="34" charset="-122"/>
                <a:cs typeface="IBM Plex Sans Condensed SemiBold" pitchFamily="34" charset="-120"/>
              </a:rPr>
              <a:t>THE RESOURCE PROBLEM</a:t>
            </a:r>
            <a:endParaRPr lang="en-US" sz="1050" dirty="0"/>
          </a:p>
        </p:txBody>
      </p:sp>
      <p:sp>
        <p:nvSpPr>
          <p:cNvPr id="6" name="Text 4"/>
          <p:cNvSpPr/>
          <p:nvPr/>
        </p:nvSpPr>
        <p:spPr>
          <a:xfrm>
            <a:off x="355591" y="638850"/>
            <a:ext cx="4165496" cy="1165622"/>
          </a:xfrm>
          <a:prstGeom prst="rect">
            <a:avLst/>
          </a:prstGeom>
          <a:noFill/>
          <a:ln/>
        </p:spPr>
        <p:txBody>
          <a:bodyPr wrap="square" lIns="0" tIns="0" rIns="0" bIns="0" rtlCol="0" anchor="t">
            <a:normAutofit/>
          </a:bodyPr>
          <a:lstStyle/>
          <a:p>
            <a:pPr algn="l" indent="0" marL="0">
              <a:lnSpc>
                <a:spcPct val="75000"/>
              </a:lnSpc>
              <a:buNone/>
            </a:pPr>
            <a:r>
              <a:rPr lang="en-US" sz="3400" b="1" spc="-119" kern="100" dirty="0">
                <a:solidFill>
                  <a:srgbClr val="FFFFFF"/>
                </a:solidFill>
                <a:latin typeface="IBM Plex Sans Condensed Bold" pitchFamily="34" charset="0"/>
                <a:ea typeface="IBM Plex Sans Condensed Bold" pitchFamily="34" charset="-122"/>
                <a:cs typeface="IBM Plex Sans Condensed Bold" pitchFamily="34" charset="-120"/>
              </a:rPr>
              <a:t>COPYING ALL MEMORY CAN WASTE RESOURCES</a:t>
            </a:r>
            <a:endParaRPr lang="en-US" sz="3400" dirty="0"/>
          </a:p>
        </p:txBody>
      </p:sp>
      <p:sp>
        <p:nvSpPr>
          <p:cNvPr id="7" name="Text 5"/>
          <p:cNvSpPr/>
          <p:nvPr/>
        </p:nvSpPr>
        <p:spPr>
          <a:xfrm>
            <a:off x="355591" y="1866448"/>
            <a:ext cx="4521087" cy="216892"/>
          </a:xfrm>
          <a:prstGeom prst="rect">
            <a:avLst/>
          </a:prstGeom>
          <a:noFill/>
          <a:ln/>
        </p:spPr>
        <p:txBody>
          <a:bodyPr wrap="none" lIns="0" tIns="0" rIns="0" bIns="0" rtlCol="0" anchor="t"/>
          <a:lstStyle/>
          <a:p>
            <a:pPr algn="l" indent="0" marL="0">
              <a:lnSpc>
                <a:spcPct val="102000"/>
              </a:lnSpc>
              <a:buNone/>
            </a:pPr>
            <a:r>
              <a:rPr lang="en-US" sz="1400" dirty="0">
                <a:solidFill>
                  <a:srgbClr val="FFFFFF"/>
                </a:solidFill>
                <a:latin typeface="IBM Plex Sans Condensed" pitchFamily="34" charset="0"/>
                <a:ea typeface="IBM Plex Sans Condensed" pitchFamily="34" charset="-122"/>
                <a:cs typeface="IBM Plex Sans Condensed" pitchFamily="34" charset="-120"/>
              </a:rPr>
              <a:t>Creating processes requires memory management.</a:t>
            </a:r>
            <a:endParaRPr lang="en-US" sz="1400" dirty="0"/>
          </a:p>
        </p:txBody>
      </p:sp>
      <p:sp>
        <p:nvSpPr>
          <p:cNvPr id="8" name="Text 6"/>
          <p:cNvSpPr/>
          <p:nvPr/>
        </p:nvSpPr>
        <p:spPr>
          <a:xfrm>
            <a:off x="5257668" y="381921"/>
            <a:ext cx="6934027" cy="135930"/>
          </a:xfrm>
          <a:prstGeom prst="rect">
            <a:avLst/>
          </a:prstGeom>
          <a:noFill/>
          <a:ln/>
        </p:spPr>
        <p:txBody>
          <a:bodyPr wrap="none" lIns="0" tIns="0" rIns="0" bIns="0" rtlCol="0" anchor="t"/>
          <a:lstStyle/>
          <a:p>
            <a:pPr algn="l" indent="0" marL="0">
              <a:lnSpc>
                <a:spcPct val="85000"/>
              </a:lnSpc>
              <a:buNone/>
            </a:pPr>
            <a:r>
              <a:rPr lang="en-US" sz="1050" spc="84" kern="100" dirty="0">
                <a:solidFill>
                  <a:srgbClr val="1B3A8F"/>
                </a:solidFill>
                <a:latin typeface="IBM Plex Sans Condensed SemiBold" pitchFamily="34" charset="0"/>
                <a:ea typeface="IBM Plex Sans Condensed SemiBold" pitchFamily="34" charset="-122"/>
                <a:cs typeface="IBM Plex Sans Condensed SemiBold" pitchFamily="34" charset="-120"/>
              </a:rPr>
              <a:t>PROCESS CREATION / MEMORY MANAGEMENT</a:t>
            </a:r>
            <a:endParaRPr lang="en-US" sz="1050" dirty="0"/>
          </a:p>
        </p:txBody>
      </p:sp>
      <p:pic>
        <p:nvPicPr>
          <p:cNvPr id="9" name="Image 0" descr="preencoded.png">    </p:cNvPr>
          <p:cNvPicPr>
            <a:picLocks noChangeAspect="1"/>
          </p:cNvPicPr>
          <p:nvPr/>
        </p:nvPicPr>
        <p:blipFill>
          <a:blip r:embed="rId1"/>
          <a:stretch>
            <a:fillRect/>
          </a:stretch>
        </p:blipFill>
        <p:spPr>
          <a:xfrm>
            <a:off x="5257668" y="605830"/>
            <a:ext cx="6553036" cy="2372221"/>
          </a:xfrm>
          <a:prstGeom prst="rect">
            <a:avLst/>
          </a:prstGeom>
        </p:spPr>
      </p:pic>
      <p:sp>
        <p:nvSpPr>
          <p:cNvPr id="10" name="Text 7"/>
          <p:cNvSpPr/>
          <p:nvPr/>
        </p:nvSpPr>
        <p:spPr>
          <a:xfrm>
            <a:off x="5736123" y="977235"/>
            <a:ext cx="4043104" cy="181163"/>
          </a:xfrm>
          <a:prstGeom prst="rect">
            <a:avLst/>
          </a:prstGeom>
          <a:noFill/>
          <a:ln/>
        </p:spPr>
        <p:txBody>
          <a:bodyPr wrap="none" lIns="0" tIns="0" rIns="0" bIns="0" rtlCol="0" anchor="t"/>
          <a:lstStyle/>
          <a:p>
            <a:pPr algn="l" indent="0" marL="0">
              <a:lnSpc>
                <a:spcPct val="102000"/>
              </a:lnSpc>
              <a:buNone/>
            </a:pPr>
            <a:r>
              <a:rPr lang="en-US" sz="1150" b="1" spc="-41" kern="100" dirty="0">
                <a:solidFill>
                  <a:srgbClr val="FFFFFF"/>
                </a:solidFill>
                <a:latin typeface="IBM Plex Sans Condensed Bold" pitchFamily="34" charset="0"/>
                <a:ea typeface="IBM Plex Sans Condensed Bold" pitchFamily="34" charset="-122"/>
                <a:cs typeface="IBM Plex Sans Condensed Bold" pitchFamily="34" charset="-120"/>
              </a:rPr>
              <a:t>CREATE PROCESS</a:t>
            </a:r>
            <a:endParaRPr lang="en-US" sz="1150" dirty="0"/>
          </a:p>
        </p:txBody>
      </p:sp>
      <p:sp>
        <p:nvSpPr>
          <p:cNvPr id="11" name="Text 8"/>
          <p:cNvSpPr/>
          <p:nvPr/>
        </p:nvSpPr>
        <p:spPr>
          <a:xfrm>
            <a:off x="5736123" y="1698066"/>
            <a:ext cx="4043104" cy="181163"/>
          </a:xfrm>
          <a:prstGeom prst="rect">
            <a:avLst/>
          </a:prstGeom>
          <a:noFill/>
          <a:ln/>
        </p:spPr>
        <p:txBody>
          <a:bodyPr wrap="none" lIns="0" tIns="0" rIns="0" bIns="0" rtlCol="0" anchor="t"/>
          <a:lstStyle/>
          <a:p>
            <a:pPr algn="l" indent="0" marL="0">
              <a:lnSpc>
                <a:spcPct val="102000"/>
              </a:lnSpc>
              <a:buNone/>
            </a:pPr>
            <a:r>
              <a:rPr lang="en-US" sz="1150" b="1" spc="-41" kern="100" dirty="0">
                <a:solidFill>
                  <a:srgbClr val="FFFFFF"/>
                </a:solidFill>
                <a:latin typeface="IBM Plex Sans Condensed Bold" pitchFamily="34" charset="0"/>
                <a:ea typeface="IBM Plex Sans Condensed Bold" pitchFamily="34" charset="-122"/>
                <a:cs typeface="IBM Plex Sans Condensed Bold" pitchFamily="34" charset="-120"/>
              </a:rPr>
              <a:t>IMMEDIATE COPY</a:t>
            </a:r>
            <a:endParaRPr lang="en-US" sz="1150" dirty="0"/>
          </a:p>
        </p:txBody>
      </p:sp>
      <p:sp>
        <p:nvSpPr>
          <p:cNvPr id="12" name="Text 9"/>
          <p:cNvSpPr/>
          <p:nvPr/>
        </p:nvSpPr>
        <p:spPr>
          <a:xfrm>
            <a:off x="5736123" y="2412343"/>
            <a:ext cx="4043104" cy="181163"/>
          </a:xfrm>
          <a:prstGeom prst="rect">
            <a:avLst/>
          </a:prstGeom>
          <a:noFill/>
          <a:ln/>
        </p:spPr>
        <p:txBody>
          <a:bodyPr wrap="none" lIns="0" tIns="0" rIns="0" bIns="0" rtlCol="0" anchor="t"/>
          <a:lstStyle/>
          <a:p>
            <a:pPr algn="l" indent="0" marL="0">
              <a:lnSpc>
                <a:spcPct val="102000"/>
              </a:lnSpc>
              <a:buNone/>
            </a:pPr>
            <a:r>
              <a:rPr lang="en-US" sz="1150" b="1" spc="-41" kern="100" dirty="0">
                <a:solidFill>
                  <a:srgbClr val="FFFFFF"/>
                </a:solidFill>
                <a:latin typeface="IBM Plex Sans Condensed Bold" pitchFamily="34" charset="0"/>
                <a:ea typeface="IBM Plex Sans Condensed Bold" pitchFamily="34" charset="-122"/>
                <a:cs typeface="IBM Plex Sans Condensed Bold" pitchFamily="34" charset="-120"/>
              </a:rPr>
              <a:t>COPY-ON-WRITE</a:t>
            </a:r>
            <a:endParaRPr lang="en-US" sz="1150" dirty="0"/>
          </a:p>
        </p:txBody>
      </p:sp>
      <p:sp>
        <p:nvSpPr>
          <p:cNvPr id="13" name="Text 10"/>
          <p:cNvSpPr/>
          <p:nvPr/>
        </p:nvSpPr>
        <p:spPr>
          <a:xfrm>
            <a:off x="5257668" y="3079651"/>
            <a:ext cx="6553036" cy="853877"/>
          </a:xfrm>
          <a:prstGeom prst="rect">
            <a:avLst/>
          </a:prstGeom>
          <a:noFill/>
          <a:ln/>
        </p:spPr>
        <p:txBody>
          <a:bodyPr wrap="square" lIns="0" tIns="0" rIns="0" bIns="0" rtlCol="0" anchor="t"/>
          <a:lstStyle/>
          <a:p>
            <a:pPr algn="l" indent="0" marL="0">
              <a:lnSpc>
                <a:spcPct val="102000"/>
              </a:lnSpc>
              <a:spcAft>
                <a:spcPts val="750"/>
              </a:spcAft>
              <a:buNone/>
            </a:pPr>
            <a:r>
              <a:rPr lang="en-US" sz="1400" dirty="0">
                <a:solidFill>
                  <a:srgbClr val="1B3A8F"/>
                </a:solidFill>
                <a:latin typeface="IBM Plex Sans Condensed" pitchFamily="34" charset="0"/>
                <a:ea typeface="IBM Plex Sans Condensed" pitchFamily="34" charset="-122"/>
                <a:cs typeface="IBM Plex Sans Condensed" pitchFamily="34" charset="-120"/>
              </a:rPr>
              <a:t>Copying every memory page immediately may use unnecessary resources.</a:t>
            </a:r>
            <a:endParaRPr lang="en-US" sz="1400" dirty="0"/>
          </a:p>
          <a:p>
            <a:pPr algn="l" indent="0" marL="0">
              <a:lnSpc>
                <a:spcPct val="102000"/>
              </a:lnSpc>
              <a:spcAft>
                <a:spcPts val="750"/>
              </a:spcAft>
              <a:buNone/>
            </a:pPr>
            <a:r>
              <a:rPr lang="en-US" sz="1400" dirty="0">
                <a:solidFill>
                  <a:srgbClr val="1B3A8F"/>
                </a:solidFill>
                <a:latin typeface="IBM Plex Sans Condensed" pitchFamily="34" charset="0"/>
                <a:ea typeface="IBM Plex Sans Condensed" pitchFamily="34" charset="-122"/>
                <a:cs typeface="IBM Plex Sans Condensed" pitchFamily="34" charset="-120"/>
              </a:rPr>
              <a:t>Copy-on-Write delays copying until a process needs to write.</a:t>
            </a:r>
            <a:endParaRPr lang="en-US" sz="1400" dirty="0"/>
          </a:p>
          <a:p>
            <a:pPr algn="l" indent="0" marL="0">
              <a:lnSpc>
                <a:spcPct val="102000"/>
              </a:lnSpc>
              <a:buNone/>
            </a:pPr>
            <a:r>
              <a:rPr lang="en-US" sz="1400" dirty="0">
                <a:solidFill>
                  <a:srgbClr val="1B3A8F"/>
                </a:solidFill>
                <a:latin typeface="IBM Plex Sans Condensed" pitchFamily="34" charset="0"/>
                <a:ea typeface="IBM Plex Sans Condensed" pitchFamily="34" charset="-122"/>
                <a:cs typeface="IBM Plex Sans Condensed" pitchFamily="34" charset="-120"/>
              </a:rPr>
              <a:t>Our demonstrator uses a parent and child process to show the behavior.</a:t>
            </a:r>
            <a:endParaRPr lang="en-US" sz="1400" dirty="0"/>
          </a:p>
        </p:txBody>
      </p:sp>
      <p:sp>
        <p:nvSpPr>
          <p:cNvPr id="14" name="Shape 11"/>
          <p:cNvSpPr/>
          <p:nvPr/>
        </p:nvSpPr>
        <p:spPr>
          <a:xfrm>
            <a:off x="4870328" y="12700"/>
            <a:ext cx="12700" cy="6832600"/>
          </a:xfrm>
          <a:prstGeom prst="rect">
            <a:avLst/>
          </a:prstGeom>
          <a:solidFill>
            <a:srgbClr val="1B3A8F">
              <a:alpha val="36000"/>
            </a:srgbClr>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12700"/>
          </a:xfrm>
          <a:prstGeom prst="rect">
            <a:avLst/>
          </a:prstGeom>
          <a:solidFill>
            <a:srgbClr val="1B3A8F"/>
          </a:solidFill>
          <a:ln/>
        </p:spPr>
      </p:sp>
      <p:sp>
        <p:nvSpPr>
          <p:cNvPr id="3" name="Shape 1"/>
          <p:cNvSpPr/>
          <p:nvPr/>
        </p:nvSpPr>
        <p:spPr>
          <a:xfrm>
            <a:off x="0" y="6845300"/>
            <a:ext cx="12191695" cy="12700"/>
          </a:xfrm>
          <a:prstGeom prst="rect">
            <a:avLst/>
          </a:prstGeom>
          <a:solidFill>
            <a:srgbClr val="1B3A8F"/>
          </a:solidFill>
          <a:ln/>
        </p:spPr>
      </p:sp>
      <p:sp>
        <p:nvSpPr>
          <p:cNvPr id="4" name="Text 2"/>
          <p:cNvSpPr/>
          <p:nvPr/>
        </p:nvSpPr>
        <p:spPr>
          <a:xfrm>
            <a:off x="304792" y="2434757"/>
            <a:ext cx="11886903" cy="135930"/>
          </a:xfrm>
          <a:prstGeom prst="rect">
            <a:avLst/>
          </a:prstGeom>
          <a:noFill/>
          <a:ln/>
        </p:spPr>
        <p:txBody>
          <a:bodyPr wrap="none" lIns="0" tIns="0" rIns="0" bIns="0" rtlCol="0" anchor="t"/>
          <a:lstStyle/>
          <a:p>
            <a:pPr algn="l" indent="0" marL="0">
              <a:lnSpc>
                <a:spcPct val="85000"/>
              </a:lnSpc>
              <a:buNone/>
            </a:pPr>
            <a:r>
              <a:rPr lang="en-US" sz="1050" spc="84" kern="100" dirty="0">
                <a:solidFill>
                  <a:srgbClr val="1B3A8F"/>
                </a:solidFill>
                <a:latin typeface="IBM Plex Sans Condensed SemiBold" pitchFamily="34" charset="0"/>
                <a:ea typeface="IBM Plex Sans Condensed SemiBold" pitchFamily="34" charset="-122"/>
                <a:cs typeface="IBM Plex Sans Condensed SemiBold" pitchFamily="34" charset="-120"/>
              </a:rPr>
              <a:t>PROGRAM WORKFLOW / FIVE STEPS</a:t>
            </a:r>
            <a:endParaRPr lang="en-US" sz="1050" dirty="0"/>
          </a:p>
        </p:txBody>
      </p:sp>
      <p:sp>
        <p:nvSpPr>
          <p:cNvPr id="5" name="Text 3"/>
          <p:cNvSpPr/>
          <p:nvPr/>
        </p:nvSpPr>
        <p:spPr>
          <a:xfrm>
            <a:off x="304792" y="2666286"/>
            <a:ext cx="11582110" cy="388541"/>
          </a:xfrm>
          <a:prstGeom prst="rect">
            <a:avLst/>
          </a:prstGeom>
          <a:noFill/>
          <a:ln/>
        </p:spPr>
        <p:txBody>
          <a:bodyPr wrap="none" lIns="0" tIns="0" rIns="0" bIns="0" rtlCol="0" anchor="t"/>
          <a:lstStyle/>
          <a:p>
            <a:pPr algn="l" indent="0" marL="0">
              <a:lnSpc>
                <a:spcPct val="75000"/>
              </a:lnSpc>
              <a:buNone/>
            </a:pPr>
            <a:r>
              <a:rPr lang="en-US" sz="3400" b="1" spc="-119" kern="100" dirty="0">
                <a:solidFill>
                  <a:srgbClr val="1B3A8F"/>
                </a:solidFill>
                <a:latin typeface="IBM Plex Sans Condensed Bold" pitchFamily="34" charset="0"/>
                <a:ea typeface="IBM Plex Sans Condensed Bold" pitchFamily="34" charset="-122"/>
                <a:cs typeface="IBM Plex Sans Condensed Bold" pitchFamily="34" charset="-120"/>
              </a:rPr>
              <a:t>THE PROGRAM FOLLOWS ONE CLEAR WORKFLOW</a:t>
            </a:r>
            <a:endParaRPr lang="en-US" sz="3400" dirty="0"/>
          </a:p>
        </p:txBody>
      </p:sp>
      <p:sp>
        <p:nvSpPr>
          <p:cNvPr id="6" name="Text 4"/>
          <p:cNvSpPr/>
          <p:nvPr/>
        </p:nvSpPr>
        <p:spPr>
          <a:xfrm>
            <a:off x="304792" y="3119469"/>
            <a:ext cx="2189405" cy="263327"/>
          </a:xfrm>
          <a:prstGeom prst="rect">
            <a:avLst/>
          </a:prstGeom>
          <a:noFill/>
          <a:ln/>
        </p:spPr>
        <p:txBody>
          <a:bodyPr wrap="none" lIns="0" tIns="0" rIns="0" bIns="0" rtlCol="0" anchor="t"/>
          <a:lstStyle/>
          <a:p>
            <a:pPr algn="l" indent="0" marL="0">
              <a:lnSpc>
                <a:spcPct val="102000"/>
              </a:lnSpc>
              <a:buNone/>
            </a:pPr>
            <a:r>
              <a:rPr lang="en-US" sz="1700" dirty="0">
                <a:solidFill>
                  <a:srgbClr val="1B3A8F"/>
                </a:solidFill>
                <a:latin typeface="IBM Plex Sans Condensed Medium" pitchFamily="34" charset="0"/>
                <a:ea typeface="IBM Plex Sans Condensed Medium" pitchFamily="34" charset="-122"/>
                <a:cs typeface="IBM Plex Sans Condensed Medium" pitchFamily="34" charset="-120"/>
              </a:rPr>
              <a:t>Allocate</a:t>
            </a:r>
            <a:endParaRPr lang="en-US" sz="1700" dirty="0"/>
          </a:p>
        </p:txBody>
      </p:sp>
      <p:sp>
        <p:nvSpPr>
          <p:cNvPr id="7" name="Text 5"/>
          <p:cNvSpPr/>
          <p:nvPr/>
        </p:nvSpPr>
        <p:spPr>
          <a:xfrm>
            <a:off x="304792" y="3462679"/>
            <a:ext cx="2189405" cy="433784"/>
          </a:xfrm>
          <a:prstGeom prst="rect">
            <a:avLst/>
          </a:prstGeom>
          <a:noFill/>
          <a:ln/>
        </p:spPr>
        <p:txBody>
          <a:bodyPr wrap="square" lIns="0" tIns="0" rIns="0" bIns="0" rtlCol="0" anchor="t">
            <a:normAutofit/>
          </a:bodyPr>
          <a:lstStyle/>
          <a:p>
            <a:pPr algn="l" indent="0" marL="0">
              <a:lnSpc>
                <a:spcPct val="102000"/>
              </a:lnSpc>
              <a:buNone/>
            </a:pPr>
            <a:r>
              <a:rPr lang="en-US" sz="1400" dirty="0">
                <a:solidFill>
                  <a:srgbClr val="1B3A8F"/>
                </a:solidFill>
                <a:latin typeface="IBM Plex Sans Condensed" pitchFamily="34" charset="0"/>
                <a:ea typeface="IBM Plex Sans Condensed" pitchFamily="34" charset="-122"/>
                <a:cs typeface="IBM Plex Sans Condensed" pitchFamily="34" charset="-120"/>
              </a:rPr>
              <a:t>mmap() creates shared virtual memory</a:t>
            </a:r>
            <a:endParaRPr lang="en-US" sz="1400" dirty="0"/>
          </a:p>
        </p:txBody>
      </p:sp>
      <p:sp>
        <p:nvSpPr>
          <p:cNvPr id="8" name="Text 6"/>
          <p:cNvSpPr/>
          <p:nvPr/>
        </p:nvSpPr>
        <p:spPr>
          <a:xfrm>
            <a:off x="2748191" y="3119469"/>
            <a:ext cx="2062409" cy="263327"/>
          </a:xfrm>
          <a:prstGeom prst="rect">
            <a:avLst/>
          </a:prstGeom>
          <a:noFill/>
          <a:ln/>
        </p:spPr>
        <p:txBody>
          <a:bodyPr wrap="none" lIns="0" tIns="0" rIns="0" bIns="0" rtlCol="0" anchor="t"/>
          <a:lstStyle/>
          <a:p>
            <a:pPr algn="l" indent="0" marL="0">
              <a:lnSpc>
                <a:spcPct val="102000"/>
              </a:lnSpc>
              <a:buNone/>
            </a:pPr>
            <a:r>
              <a:rPr lang="en-US" sz="1700" dirty="0">
                <a:solidFill>
                  <a:srgbClr val="1B3A8F"/>
                </a:solidFill>
                <a:latin typeface="IBM Plex Sans Condensed Medium" pitchFamily="34" charset="0"/>
                <a:ea typeface="IBM Plex Sans Condensed Medium" pitchFamily="34" charset="-122"/>
                <a:cs typeface="IBM Plex Sans Condensed Medium" pitchFamily="34" charset="-120"/>
              </a:rPr>
              <a:t>Store</a:t>
            </a:r>
            <a:endParaRPr lang="en-US" sz="1700" dirty="0"/>
          </a:p>
        </p:txBody>
      </p:sp>
      <p:sp>
        <p:nvSpPr>
          <p:cNvPr id="9" name="Text 7"/>
          <p:cNvSpPr/>
          <p:nvPr/>
        </p:nvSpPr>
        <p:spPr>
          <a:xfrm>
            <a:off x="2748191" y="3462679"/>
            <a:ext cx="2189405" cy="216892"/>
          </a:xfrm>
          <a:prstGeom prst="rect">
            <a:avLst/>
          </a:prstGeom>
          <a:noFill/>
          <a:ln/>
        </p:spPr>
        <p:txBody>
          <a:bodyPr wrap="none" lIns="0" tIns="0" rIns="0" bIns="0" rtlCol="0" anchor="t"/>
          <a:lstStyle/>
          <a:p>
            <a:pPr algn="l" indent="0" marL="0">
              <a:lnSpc>
                <a:spcPct val="102000"/>
              </a:lnSpc>
              <a:buNone/>
            </a:pPr>
            <a:r>
              <a:rPr lang="en-US" sz="1400" dirty="0">
                <a:solidFill>
                  <a:srgbClr val="1B3A8F"/>
                </a:solidFill>
                <a:latin typeface="IBM Plex Sans Condensed" pitchFamily="34" charset="0"/>
                <a:ea typeface="IBM Plex Sans Condensed" pitchFamily="34" charset="-122"/>
                <a:cs typeface="IBM Plex Sans Condensed" pitchFamily="34" charset="-120"/>
              </a:rPr>
              <a:t>write the initial value 100</a:t>
            </a:r>
            <a:endParaRPr lang="en-US" sz="1400" dirty="0"/>
          </a:p>
        </p:txBody>
      </p:sp>
      <p:sp>
        <p:nvSpPr>
          <p:cNvPr id="10" name="Text 8"/>
          <p:cNvSpPr/>
          <p:nvPr/>
        </p:nvSpPr>
        <p:spPr>
          <a:xfrm>
            <a:off x="5064594" y="3119469"/>
            <a:ext cx="2062409" cy="263327"/>
          </a:xfrm>
          <a:prstGeom prst="rect">
            <a:avLst/>
          </a:prstGeom>
          <a:noFill/>
          <a:ln/>
        </p:spPr>
        <p:txBody>
          <a:bodyPr wrap="none" lIns="0" tIns="0" rIns="0" bIns="0" rtlCol="0" anchor="t"/>
          <a:lstStyle/>
          <a:p>
            <a:pPr algn="l" indent="0" marL="0">
              <a:lnSpc>
                <a:spcPct val="102000"/>
              </a:lnSpc>
              <a:buNone/>
            </a:pPr>
            <a:r>
              <a:rPr lang="en-US" sz="1700" dirty="0">
                <a:solidFill>
                  <a:srgbClr val="1B3A8F"/>
                </a:solidFill>
                <a:latin typeface="IBM Plex Sans Condensed Medium" pitchFamily="34" charset="0"/>
                <a:ea typeface="IBM Plex Sans Condensed Medium" pitchFamily="34" charset="-122"/>
                <a:cs typeface="IBM Plex Sans Condensed Medium" pitchFamily="34" charset="-120"/>
              </a:rPr>
              <a:t>Create</a:t>
            </a:r>
            <a:endParaRPr lang="en-US" sz="1700" dirty="0"/>
          </a:p>
        </p:txBody>
      </p:sp>
      <p:sp>
        <p:nvSpPr>
          <p:cNvPr id="11" name="Text 9"/>
          <p:cNvSpPr/>
          <p:nvPr/>
        </p:nvSpPr>
        <p:spPr>
          <a:xfrm>
            <a:off x="5064594" y="3462679"/>
            <a:ext cx="2062409" cy="433784"/>
          </a:xfrm>
          <a:prstGeom prst="rect">
            <a:avLst/>
          </a:prstGeom>
          <a:noFill/>
          <a:ln/>
        </p:spPr>
        <p:txBody>
          <a:bodyPr wrap="square" lIns="0" tIns="0" rIns="0" bIns="0" rtlCol="0" anchor="t">
            <a:normAutofit/>
          </a:bodyPr>
          <a:lstStyle/>
          <a:p>
            <a:pPr algn="l" indent="0" marL="0">
              <a:lnSpc>
                <a:spcPct val="102000"/>
              </a:lnSpc>
              <a:buNone/>
            </a:pPr>
            <a:r>
              <a:rPr lang="en-US" sz="1400" dirty="0">
                <a:solidFill>
                  <a:srgbClr val="1B3A8F"/>
                </a:solidFill>
                <a:latin typeface="IBM Plex Sans Condensed" pitchFamily="34" charset="0"/>
                <a:ea typeface="IBM Plex Sans Condensed" pitchFamily="34" charset="-122"/>
                <a:cs typeface="IBM Plex Sans Condensed" pitchFamily="34" charset="-120"/>
              </a:rPr>
              <a:t>fork() creates the child process</a:t>
            </a:r>
            <a:endParaRPr lang="en-US" sz="1400" dirty="0"/>
          </a:p>
        </p:txBody>
      </p:sp>
      <p:sp>
        <p:nvSpPr>
          <p:cNvPr id="12" name="Text 10"/>
          <p:cNvSpPr/>
          <p:nvPr/>
        </p:nvSpPr>
        <p:spPr>
          <a:xfrm>
            <a:off x="7380996" y="3119469"/>
            <a:ext cx="2062409" cy="263327"/>
          </a:xfrm>
          <a:prstGeom prst="rect">
            <a:avLst/>
          </a:prstGeom>
          <a:noFill/>
          <a:ln/>
        </p:spPr>
        <p:txBody>
          <a:bodyPr wrap="none" lIns="0" tIns="0" rIns="0" bIns="0" rtlCol="0" anchor="t"/>
          <a:lstStyle/>
          <a:p>
            <a:pPr algn="l" indent="0" marL="0">
              <a:lnSpc>
                <a:spcPct val="102000"/>
              </a:lnSpc>
              <a:buNone/>
            </a:pPr>
            <a:r>
              <a:rPr lang="en-US" sz="1700" dirty="0">
                <a:solidFill>
                  <a:srgbClr val="1B3A8F"/>
                </a:solidFill>
                <a:latin typeface="IBM Plex Sans Condensed Medium" pitchFamily="34" charset="0"/>
                <a:ea typeface="IBM Plex Sans Condensed Medium" pitchFamily="34" charset="-122"/>
                <a:cs typeface="IBM Plex Sans Condensed Medium" pitchFamily="34" charset="-120"/>
              </a:rPr>
              <a:t>Modify</a:t>
            </a:r>
            <a:endParaRPr lang="en-US" sz="1700" dirty="0"/>
          </a:p>
        </p:txBody>
      </p:sp>
      <p:sp>
        <p:nvSpPr>
          <p:cNvPr id="13" name="Text 11"/>
          <p:cNvSpPr/>
          <p:nvPr/>
        </p:nvSpPr>
        <p:spPr>
          <a:xfrm>
            <a:off x="7380996" y="3462679"/>
            <a:ext cx="2062409" cy="433784"/>
          </a:xfrm>
          <a:prstGeom prst="rect">
            <a:avLst/>
          </a:prstGeom>
          <a:noFill/>
          <a:ln/>
        </p:spPr>
        <p:txBody>
          <a:bodyPr wrap="square" lIns="0" tIns="0" rIns="0" bIns="0" rtlCol="0" anchor="t">
            <a:normAutofit/>
          </a:bodyPr>
          <a:lstStyle/>
          <a:p>
            <a:pPr algn="l" indent="0" marL="0">
              <a:lnSpc>
                <a:spcPct val="102000"/>
              </a:lnSpc>
              <a:buNone/>
            </a:pPr>
            <a:r>
              <a:rPr lang="en-US" sz="1400" dirty="0">
                <a:solidFill>
                  <a:srgbClr val="1B3A8F"/>
                </a:solidFill>
                <a:latin typeface="IBM Plex Sans Condensed" pitchFamily="34" charset="0"/>
                <a:ea typeface="IBM Plex Sans Condensed" pitchFamily="34" charset="-122"/>
                <a:cs typeface="IBM Plex Sans Condensed" pitchFamily="34" charset="-120"/>
              </a:rPr>
              <a:t>the child changes its value to 200</a:t>
            </a:r>
            <a:endParaRPr lang="en-US" sz="1400" dirty="0"/>
          </a:p>
        </p:txBody>
      </p:sp>
      <p:sp>
        <p:nvSpPr>
          <p:cNvPr id="14" name="Text 12"/>
          <p:cNvSpPr/>
          <p:nvPr/>
        </p:nvSpPr>
        <p:spPr>
          <a:xfrm>
            <a:off x="9697398" y="3119469"/>
            <a:ext cx="2189405" cy="263327"/>
          </a:xfrm>
          <a:prstGeom prst="rect">
            <a:avLst/>
          </a:prstGeom>
          <a:noFill/>
          <a:ln/>
        </p:spPr>
        <p:txBody>
          <a:bodyPr wrap="none" lIns="0" tIns="0" rIns="0" bIns="0" rtlCol="0" anchor="t"/>
          <a:lstStyle/>
          <a:p>
            <a:pPr algn="l" indent="0" marL="0">
              <a:lnSpc>
                <a:spcPct val="102000"/>
              </a:lnSpc>
              <a:buNone/>
            </a:pPr>
            <a:r>
              <a:rPr lang="en-US" sz="1700" dirty="0">
                <a:solidFill>
                  <a:srgbClr val="1B3A8F"/>
                </a:solidFill>
                <a:latin typeface="IBM Plex Sans Condensed Medium" pitchFamily="34" charset="0"/>
                <a:ea typeface="IBM Plex Sans Condensed Medium" pitchFamily="34" charset="-122"/>
                <a:cs typeface="IBM Plex Sans Condensed Medium" pitchFamily="34" charset="-120"/>
              </a:rPr>
              <a:t>Read</a:t>
            </a:r>
            <a:endParaRPr lang="en-US" sz="1700" dirty="0"/>
          </a:p>
        </p:txBody>
      </p:sp>
      <p:sp>
        <p:nvSpPr>
          <p:cNvPr id="15" name="Text 13"/>
          <p:cNvSpPr/>
          <p:nvPr/>
        </p:nvSpPr>
        <p:spPr>
          <a:xfrm>
            <a:off x="9697398" y="3462679"/>
            <a:ext cx="2189405" cy="216892"/>
          </a:xfrm>
          <a:prstGeom prst="rect">
            <a:avLst/>
          </a:prstGeom>
          <a:noFill/>
          <a:ln/>
        </p:spPr>
        <p:txBody>
          <a:bodyPr wrap="none" lIns="0" tIns="0" rIns="0" bIns="0" rtlCol="0" anchor="t"/>
          <a:lstStyle/>
          <a:p>
            <a:pPr algn="l" indent="0" marL="0">
              <a:lnSpc>
                <a:spcPct val="102000"/>
              </a:lnSpc>
              <a:buNone/>
            </a:pPr>
            <a:r>
              <a:rPr lang="en-US" sz="1400" dirty="0">
                <a:solidFill>
                  <a:srgbClr val="1B3A8F"/>
                </a:solidFill>
                <a:latin typeface="IBM Plex Sans Condensed" pitchFamily="34" charset="0"/>
                <a:ea typeface="IBM Plex Sans Condensed" pitchFamily="34" charset="-122"/>
                <a:cs typeface="IBM Plex Sans Condensed" pitchFamily="34" charset="-120"/>
              </a:rPr>
              <a:t>the parent still reads 100</a:t>
            </a:r>
            <a:endParaRPr lang="en-US" sz="1400" dirty="0"/>
          </a:p>
        </p:txBody>
      </p:sp>
      <p:sp>
        <p:nvSpPr>
          <p:cNvPr id="16" name="Shape 14"/>
          <p:cNvSpPr/>
          <p:nvPr/>
        </p:nvSpPr>
        <p:spPr>
          <a:xfrm>
            <a:off x="304792" y="3985617"/>
            <a:ext cx="11582110" cy="19050"/>
          </a:xfrm>
          <a:prstGeom prst="rect">
            <a:avLst/>
          </a:prstGeom>
          <a:solidFill>
            <a:srgbClr val="1B3A8F"/>
          </a:solidFill>
          <a:ln/>
        </p:spPr>
      </p:sp>
      <p:sp>
        <p:nvSpPr>
          <p:cNvPr id="17" name="Shape 15"/>
          <p:cNvSpPr/>
          <p:nvPr/>
        </p:nvSpPr>
        <p:spPr>
          <a:xfrm>
            <a:off x="304792" y="4424164"/>
            <a:ext cx="11582110" cy="12700"/>
          </a:xfrm>
          <a:prstGeom prst="rect">
            <a:avLst/>
          </a:prstGeom>
          <a:solidFill>
            <a:srgbClr val="1B3A8F"/>
          </a:solidFill>
          <a:ln/>
        </p:spPr>
      </p:sp>
      <p:sp>
        <p:nvSpPr>
          <p:cNvPr id="18" name="Text 16"/>
          <p:cNvSpPr/>
          <p:nvPr/>
        </p:nvSpPr>
        <p:spPr>
          <a:xfrm>
            <a:off x="304792" y="4018288"/>
            <a:ext cx="5791055" cy="135930"/>
          </a:xfrm>
          <a:prstGeom prst="rect">
            <a:avLst/>
          </a:prstGeom>
          <a:noFill/>
          <a:ln/>
        </p:spPr>
        <p:txBody>
          <a:bodyPr wrap="none" lIns="0" tIns="0" rIns="0" bIns="0" rtlCol="0" anchor="t"/>
          <a:lstStyle/>
          <a:p>
            <a:pPr algn="l" indent="0" marL="0">
              <a:lnSpc>
                <a:spcPct val="85000"/>
              </a:lnSpc>
              <a:buNone/>
            </a:pPr>
            <a:r>
              <a:rPr lang="en-US" sz="1050" spc="84" kern="100" dirty="0">
                <a:solidFill>
                  <a:srgbClr val="1B3A8F"/>
                </a:solidFill>
                <a:latin typeface="IBM Plex Sans Condensed SemiBold" pitchFamily="34" charset="0"/>
                <a:ea typeface="IBM Plex Sans Condensed SemiBold" pitchFamily="34" charset="-122"/>
                <a:cs typeface="IBM Plex Sans Condensed SemiBold" pitchFamily="34" charset="-120"/>
              </a:rPr>
              <a:t>WAIT</a:t>
            </a:r>
            <a:endParaRPr lang="en-US" sz="1050" dirty="0"/>
          </a:p>
        </p:txBody>
      </p:sp>
      <p:sp>
        <p:nvSpPr>
          <p:cNvPr id="19" name="Text 17"/>
          <p:cNvSpPr/>
          <p:nvPr/>
        </p:nvSpPr>
        <p:spPr>
          <a:xfrm>
            <a:off x="304792" y="4219718"/>
            <a:ext cx="5791055" cy="216892"/>
          </a:xfrm>
          <a:prstGeom prst="rect">
            <a:avLst/>
          </a:prstGeom>
          <a:noFill/>
          <a:ln/>
        </p:spPr>
        <p:txBody>
          <a:bodyPr wrap="none" lIns="0" tIns="0" rIns="0" bIns="0" rtlCol="0" anchor="t"/>
          <a:lstStyle/>
          <a:p>
            <a:pPr algn="l" indent="0" marL="0">
              <a:lnSpc>
                <a:spcPct val="102000"/>
              </a:lnSpc>
              <a:buNone/>
            </a:pPr>
            <a:r>
              <a:rPr lang="en-US" sz="1400" dirty="0">
                <a:solidFill>
                  <a:srgbClr val="1B3A8F"/>
                </a:solidFill>
                <a:latin typeface="IBM Plex Sans Condensed" pitchFamily="34" charset="0"/>
                <a:ea typeface="IBM Plex Sans Condensed" pitchFamily="34" charset="-122"/>
                <a:cs typeface="IBM Plex Sans Condensed" pitchFamily="34" charset="-120"/>
              </a:rPr>
              <a:t>waitpid() makes parent wait for child</a:t>
            </a:r>
            <a:endParaRPr lang="en-US" sz="1400" dirty="0"/>
          </a:p>
        </p:txBody>
      </p:sp>
      <p:sp>
        <p:nvSpPr>
          <p:cNvPr id="20" name="Text 18"/>
          <p:cNvSpPr/>
          <p:nvPr/>
        </p:nvSpPr>
        <p:spPr>
          <a:xfrm>
            <a:off x="6210145" y="4018288"/>
            <a:ext cx="5676758" cy="135930"/>
          </a:xfrm>
          <a:prstGeom prst="rect">
            <a:avLst/>
          </a:prstGeom>
          <a:noFill/>
          <a:ln/>
        </p:spPr>
        <p:txBody>
          <a:bodyPr wrap="none" lIns="0" tIns="0" rIns="0" bIns="0" rtlCol="0" anchor="t"/>
          <a:lstStyle/>
          <a:p>
            <a:pPr algn="l" indent="0" marL="0">
              <a:lnSpc>
                <a:spcPct val="85000"/>
              </a:lnSpc>
              <a:buNone/>
            </a:pPr>
            <a:r>
              <a:rPr lang="en-US" sz="1050" spc="84" kern="100" dirty="0">
                <a:solidFill>
                  <a:srgbClr val="1B3A8F"/>
                </a:solidFill>
                <a:latin typeface="IBM Plex Sans Condensed SemiBold" pitchFamily="34" charset="0"/>
                <a:ea typeface="IBM Plex Sans Condensed SemiBold" pitchFamily="34" charset="-122"/>
                <a:cs typeface="IBM Plex Sans Condensed SemiBold" pitchFamily="34" charset="-120"/>
              </a:rPr>
              <a:t>RELEASE</a:t>
            </a:r>
            <a:endParaRPr lang="en-US" sz="1050" dirty="0"/>
          </a:p>
        </p:txBody>
      </p:sp>
      <p:sp>
        <p:nvSpPr>
          <p:cNvPr id="21" name="Text 19"/>
          <p:cNvSpPr/>
          <p:nvPr/>
        </p:nvSpPr>
        <p:spPr>
          <a:xfrm>
            <a:off x="6210145" y="4219718"/>
            <a:ext cx="5676758" cy="216892"/>
          </a:xfrm>
          <a:prstGeom prst="rect">
            <a:avLst/>
          </a:prstGeom>
          <a:noFill/>
          <a:ln/>
        </p:spPr>
        <p:txBody>
          <a:bodyPr wrap="none" lIns="0" tIns="0" rIns="0" bIns="0" rtlCol="0" anchor="t"/>
          <a:lstStyle/>
          <a:p>
            <a:pPr algn="l" indent="0" marL="0">
              <a:lnSpc>
                <a:spcPct val="102000"/>
              </a:lnSpc>
              <a:buNone/>
            </a:pPr>
            <a:r>
              <a:rPr lang="en-US" sz="1400" dirty="0">
                <a:solidFill>
                  <a:srgbClr val="1B3A8F"/>
                </a:solidFill>
                <a:latin typeface="IBM Plex Sans Condensed" pitchFamily="34" charset="0"/>
                <a:ea typeface="IBM Plex Sans Condensed" pitchFamily="34" charset="-122"/>
                <a:cs typeface="IBM Plex Sans Condensed" pitchFamily="34" charset="-120"/>
              </a:rPr>
              <a:t>munmap() releases allocated memory</a:t>
            </a:r>
            <a:endParaRPr lang="en-US" sz="1400" dirty="0"/>
          </a:p>
        </p:txBody>
      </p:sp>
      <p:sp>
        <p:nvSpPr>
          <p:cNvPr id="22" name="Shape 20"/>
          <p:cNvSpPr/>
          <p:nvPr/>
        </p:nvSpPr>
        <p:spPr>
          <a:xfrm>
            <a:off x="2614845" y="3104356"/>
            <a:ext cx="12700" cy="779661"/>
          </a:xfrm>
          <a:prstGeom prst="rect">
            <a:avLst/>
          </a:prstGeom>
          <a:solidFill>
            <a:srgbClr val="1B3A8F">
              <a:alpha val="36000"/>
            </a:srgbClr>
          </a:solidFill>
          <a:ln/>
        </p:spPr>
      </p:sp>
      <p:sp>
        <p:nvSpPr>
          <p:cNvPr id="23" name="Shape 21"/>
          <p:cNvSpPr/>
          <p:nvPr/>
        </p:nvSpPr>
        <p:spPr>
          <a:xfrm>
            <a:off x="4931247" y="3104356"/>
            <a:ext cx="12700" cy="779661"/>
          </a:xfrm>
          <a:prstGeom prst="rect">
            <a:avLst/>
          </a:prstGeom>
          <a:solidFill>
            <a:srgbClr val="1B3A8F">
              <a:alpha val="36000"/>
            </a:srgbClr>
          </a:solidFill>
          <a:ln/>
        </p:spPr>
      </p:sp>
      <p:sp>
        <p:nvSpPr>
          <p:cNvPr id="24" name="Shape 22"/>
          <p:cNvSpPr/>
          <p:nvPr/>
        </p:nvSpPr>
        <p:spPr>
          <a:xfrm>
            <a:off x="7247649" y="3104356"/>
            <a:ext cx="12700" cy="779661"/>
          </a:xfrm>
          <a:prstGeom prst="rect">
            <a:avLst/>
          </a:prstGeom>
          <a:solidFill>
            <a:srgbClr val="1B3A8F">
              <a:alpha val="36000"/>
            </a:srgbClr>
          </a:solidFill>
          <a:ln/>
        </p:spPr>
      </p:sp>
      <p:sp>
        <p:nvSpPr>
          <p:cNvPr id="25" name="Shape 23"/>
          <p:cNvSpPr/>
          <p:nvPr/>
        </p:nvSpPr>
        <p:spPr>
          <a:xfrm>
            <a:off x="9564051" y="3104356"/>
            <a:ext cx="12700" cy="779661"/>
          </a:xfrm>
          <a:prstGeom prst="rect">
            <a:avLst/>
          </a:prstGeom>
          <a:solidFill>
            <a:srgbClr val="1B3A8F">
              <a:alpha val="36000"/>
            </a:srgbClr>
          </a:solidFill>
          <a:ln/>
        </p:spPr>
      </p:sp>
      <p:sp>
        <p:nvSpPr>
          <p:cNvPr id="26" name="Shape 24"/>
          <p:cNvSpPr/>
          <p:nvPr/>
        </p:nvSpPr>
        <p:spPr>
          <a:xfrm>
            <a:off x="6089498" y="4004667"/>
            <a:ext cx="12700" cy="419497"/>
          </a:xfrm>
          <a:prstGeom prst="rect">
            <a:avLst/>
          </a:prstGeom>
          <a:solidFill>
            <a:srgbClr val="1B3A8F">
              <a:alpha val="36000"/>
            </a:srgbClr>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12700"/>
          </a:xfrm>
          <a:prstGeom prst="rect">
            <a:avLst/>
          </a:prstGeom>
          <a:solidFill>
            <a:srgbClr val="1B3A8F"/>
          </a:solidFill>
          <a:ln/>
        </p:spPr>
      </p:sp>
      <p:sp>
        <p:nvSpPr>
          <p:cNvPr id="3" name="Shape 1"/>
          <p:cNvSpPr/>
          <p:nvPr/>
        </p:nvSpPr>
        <p:spPr>
          <a:xfrm>
            <a:off x="0" y="6845300"/>
            <a:ext cx="12191695" cy="12700"/>
          </a:xfrm>
          <a:prstGeom prst="rect">
            <a:avLst/>
          </a:prstGeom>
          <a:solidFill>
            <a:srgbClr val="1B3A8F"/>
          </a:solidFill>
          <a:ln/>
        </p:spPr>
      </p:sp>
      <p:sp>
        <p:nvSpPr>
          <p:cNvPr id="4" name="Text 2"/>
          <p:cNvSpPr/>
          <p:nvPr/>
        </p:nvSpPr>
        <p:spPr>
          <a:xfrm>
            <a:off x="355591" y="356521"/>
            <a:ext cx="7365816" cy="135930"/>
          </a:xfrm>
          <a:prstGeom prst="rect">
            <a:avLst/>
          </a:prstGeom>
          <a:noFill/>
          <a:ln/>
        </p:spPr>
        <p:txBody>
          <a:bodyPr wrap="none" lIns="0" tIns="0" rIns="0" bIns="0" rtlCol="0" anchor="t"/>
          <a:lstStyle/>
          <a:p>
            <a:pPr algn="l" indent="0" marL="0">
              <a:lnSpc>
                <a:spcPct val="85000"/>
              </a:lnSpc>
              <a:buNone/>
            </a:pPr>
            <a:r>
              <a:rPr lang="en-US" sz="1050" spc="84" kern="100" dirty="0">
                <a:solidFill>
                  <a:srgbClr val="1B3A8F"/>
                </a:solidFill>
                <a:latin typeface="IBM Plex Sans Condensed SemiBold" pitchFamily="34" charset="0"/>
                <a:ea typeface="IBM Plex Sans Condensed SemiBold" pitchFamily="34" charset="-122"/>
                <a:cs typeface="IBM Plex Sans Condensed SemiBold" pitchFamily="34" charset="-120"/>
              </a:rPr>
              <a:t>MEMORY ISOLATION / PROCESS BEHAVIOR</a:t>
            </a:r>
            <a:endParaRPr lang="en-US" sz="1050" dirty="0"/>
          </a:p>
        </p:txBody>
      </p:sp>
      <p:sp>
        <p:nvSpPr>
          <p:cNvPr id="5" name="Text 3"/>
          <p:cNvSpPr/>
          <p:nvPr/>
        </p:nvSpPr>
        <p:spPr>
          <a:xfrm>
            <a:off x="355591" y="588050"/>
            <a:ext cx="7010225" cy="777081"/>
          </a:xfrm>
          <a:prstGeom prst="rect">
            <a:avLst/>
          </a:prstGeom>
          <a:noFill/>
          <a:ln/>
        </p:spPr>
        <p:txBody>
          <a:bodyPr wrap="square" lIns="0" tIns="0" rIns="0" bIns="0" rtlCol="0" anchor="t">
            <a:normAutofit/>
          </a:bodyPr>
          <a:lstStyle/>
          <a:p>
            <a:pPr algn="l" indent="0" marL="0">
              <a:lnSpc>
                <a:spcPct val="75000"/>
              </a:lnSpc>
              <a:buNone/>
            </a:pPr>
            <a:r>
              <a:rPr lang="en-US" sz="3400" b="1" spc="-119" kern="100" dirty="0">
                <a:solidFill>
                  <a:srgbClr val="1B3A8F"/>
                </a:solidFill>
                <a:latin typeface="IBM Plex Sans Condensed Bold" pitchFamily="34" charset="0"/>
                <a:ea typeface="IBM Plex Sans Condensed Bold" pitchFamily="34" charset="-122"/>
                <a:cs typeface="IBM Plex Sans Condensed Bold" pitchFamily="34" charset="-120"/>
              </a:rPr>
              <a:t>COPY-ON-WRITE PROTECTS PROCESS MEMORY</a:t>
            </a:r>
            <a:endParaRPr lang="en-US" sz="3400" dirty="0"/>
          </a:p>
        </p:txBody>
      </p:sp>
      <p:sp>
        <p:nvSpPr>
          <p:cNvPr id="6" name="Text 4"/>
          <p:cNvSpPr/>
          <p:nvPr/>
        </p:nvSpPr>
        <p:spPr>
          <a:xfrm>
            <a:off x="355591" y="1427107"/>
            <a:ext cx="7365816" cy="216892"/>
          </a:xfrm>
          <a:prstGeom prst="rect">
            <a:avLst/>
          </a:prstGeom>
          <a:noFill/>
          <a:ln/>
        </p:spPr>
        <p:txBody>
          <a:bodyPr wrap="none" lIns="0" tIns="0" rIns="0" bIns="0" rtlCol="0" anchor="t"/>
          <a:lstStyle/>
          <a:p>
            <a:pPr algn="l" indent="0" marL="0">
              <a:lnSpc>
                <a:spcPct val="102000"/>
              </a:lnSpc>
              <a:buNone/>
            </a:pPr>
            <a:r>
              <a:rPr lang="en-US" sz="1400" dirty="0">
                <a:solidFill>
                  <a:srgbClr val="1B3A8F"/>
                </a:solidFill>
                <a:latin typeface="IBM Plex Sans Condensed" pitchFamily="34" charset="0"/>
                <a:ea typeface="IBM Plex Sans Condensed" pitchFamily="34" charset="-122"/>
                <a:cs typeface="IBM Plex Sans Condensed" pitchFamily="34" charset="-120"/>
              </a:rPr>
              <a:t>Pages can be shared initially and copied when a write requires it.</a:t>
            </a:r>
            <a:endParaRPr lang="en-US" sz="1400" dirty="0"/>
          </a:p>
        </p:txBody>
      </p:sp>
      <p:pic>
        <p:nvPicPr>
          <p:cNvPr id="7" name="Image 0" descr="preencoded.png">    </p:cNvPr>
          <p:cNvPicPr>
            <a:picLocks noChangeAspect="1"/>
          </p:cNvPicPr>
          <p:nvPr/>
        </p:nvPicPr>
        <p:blipFill>
          <a:blip r:embed="rId1"/>
          <a:stretch>
            <a:fillRect/>
          </a:stretch>
        </p:blipFill>
        <p:spPr>
          <a:xfrm>
            <a:off x="1119358" y="1733153"/>
            <a:ext cx="5482592" cy="3428901"/>
          </a:xfrm>
          <a:prstGeom prst="rect">
            <a:avLst/>
          </a:prstGeom>
        </p:spPr>
      </p:pic>
      <p:sp>
        <p:nvSpPr>
          <p:cNvPr id="8" name="Text 5"/>
          <p:cNvSpPr/>
          <p:nvPr/>
        </p:nvSpPr>
        <p:spPr>
          <a:xfrm>
            <a:off x="3293327" y="1895863"/>
            <a:ext cx="1129171" cy="151573"/>
          </a:xfrm>
          <a:prstGeom prst="rect">
            <a:avLst/>
          </a:prstGeom>
          <a:noFill/>
          <a:ln/>
        </p:spPr>
        <p:txBody>
          <a:bodyPr wrap="none" lIns="0" tIns="0" rIns="0" bIns="0" rtlCol="0" anchor="t"/>
          <a:lstStyle/>
          <a:p>
            <a:pPr algn="ctr" indent="0" marL="0">
              <a:lnSpc>
                <a:spcPct val="102000"/>
              </a:lnSpc>
              <a:buNone/>
            </a:pPr>
            <a:r>
              <a:rPr lang="en-US" sz="1000" b="1" spc="-34" kern="100" dirty="0">
                <a:solidFill>
                  <a:srgbClr val="1B3A8F"/>
                </a:solidFill>
                <a:latin typeface="IBM Plex Sans Condensed Bold" pitchFamily="34" charset="0"/>
                <a:ea typeface="IBM Plex Sans Condensed Bold" pitchFamily="34" charset="-122"/>
                <a:cs typeface="IBM Plex Sans Condensed Bold" pitchFamily="34" charset="-120"/>
              </a:rPr>
              <a:t>PROCESS</a:t>
            </a:r>
            <a:endParaRPr lang="en-US" sz="1000" dirty="0"/>
          </a:p>
        </p:txBody>
      </p:sp>
      <p:sp>
        <p:nvSpPr>
          <p:cNvPr id="9" name="Text 6"/>
          <p:cNvSpPr/>
          <p:nvPr/>
        </p:nvSpPr>
        <p:spPr>
          <a:xfrm>
            <a:off x="5338308" y="3392629"/>
            <a:ext cx="1129171" cy="151573"/>
          </a:xfrm>
          <a:prstGeom prst="rect">
            <a:avLst/>
          </a:prstGeom>
          <a:noFill/>
          <a:ln/>
        </p:spPr>
        <p:txBody>
          <a:bodyPr wrap="none" lIns="0" tIns="0" rIns="0" bIns="0" rtlCol="0" anchor="t"/>
          <a:lstStyle/>
          <a:p>
            <a:pPr algn="l" indent="0" marL="0">
              <a:lnSpc>
                <a:spcPct val="102000"/>
              </a:lnSpc>
              <a:buNone/>
            </a:pPr>
            <a:r>
              <a:rPr lang="en-US" sz="1000" b="1" spc="-34" kern="100" dirty="0">
                <a:solidFill>
                  <a:srgbClr val="1B3A8F"/>
                </a:solidFill>
                <a:latin typeface="IBM Plex Sans Condensed Bold" pitchFamily="34" charset="0"/>
                <a:ea typeface="IBM Plex Sans Condensed Bold" pitchFamily="34" charset="-122"/>
                <a:cs typeface="IBM Plex Sans Condensed Bold" pitchFamily="34" charset="-120"/>
              </a:rPr>
              <a:t>VIRTUAL MEMORY</a:t>
            </a:r>
            <a:endParaRPr lang="en-US" sz="1000" dirty="0"/>
          </a:p>
        </p:txBody>
      </p:sp>
      <p:sp>
        <p:nvSpPr>
          <p:cNvPr id="10" name="Text 7"/>
          <p:cNvSpPr/>
          <p:nvPr/>
        </p:nvSpPr>
        <p:spPr>
          <a:xfrm>
            <a:off x="3293327" y="4845534"/>
            <a:ext cx="1129171" cy="151573"/>
          </a:xfrm>
          <a:prstGeom prst="rect">
            <a:avLst/>
          </a:prstGeom>
          <a:noFill/>
          <a:ln/>
        </p:spPr>
        <p:txBody>
          <a:bodyPr wrap="none" lIns="0" tIns="0" rIns="0" bIns="0" rtlCol="0" anchor="t"/>
          <a:lstStyle/>
          <a:p>
            <a:pPr algn="ctr" indent="0" marL="0">
              <a:lnSpc>
                <a:spcPct val="102000"/>
              </a:lnSpc>
              <a:buNone/>
            </a:pPr>
            <a:r>
              <a:rPr lang="en-US" sz="1000" b="1" spc="-34" kern="100" dirty="0">
                <a:solidFill>
                  <a:srgbClr val="1B3A8F"/>
                </a:solidFill>
                <a:latin typeface="IBM Plex Sans Condensed Bold" pitchFamily="34" charset="0"/>
                <a:ea typeface="IBM Plex Sans Condensed Bold" pitchFamily="34" charset="-122"/>
                <a:cs typeface="IBM Plex Sans Condensed Bold" pitchFamily="34" charset="-120"/>
              </a:rPr>
              <a:t>COPY-ON-WRITE</a:t>
            </a:r>
            <a:endParaRPr lang="en-US" sz="1000" dirty="0"/>
          </a:p>
        </p:txBody>
      </p:sp>
      <p:sp>
        <p:nvSpPr>
          <p:cNvPr id="11" name="Text 8"/>
          <p:cNvSpPr/>
          <p:nvPr/>
        </p:nvSpPr>
        <p:spPr>
          <a:xfrm>
            <a:off x="1253828" y="3398112"/>
            <a:ext cx="1129172" cy="151573"/>
          </a:xfrm>
          <a:prstGeom prst="rect">
            <a:avLst/>
          </a:prstGeom>
          <a:noFill/>
          <a:ln/>
        </p:spPr>
        <p:txBody>
          <a:bodyPr wrap="none" lIns="0" tIns="0" rIns="0" bIns="0" rtlCol="0" anchor="t"/>
          <a:lstStyle/>
          <a:p>
            <a:pPr algn="r" indent="0" marL="0">
              <a:lnSpc>
                <a:spcPct val="102000"/>
              </a:lnSpc>
              <a:buNone/>
            </a:pPr>
            <a:r>
              <a:rPr lang="en-US" sz="1000" b="1" spc="-34" kern="100" dirty="0">
                <a:solidFill>
                  <a:srgbClr val="1B3A8F"/>
                </a:solidFill>
                <a:latin typeface="IBM Plex Sans Condensed Bold" pitchFamily="34" charset="0"/>
                <a:ea typeface="IBM Plex Sans Condensed Bold" pitchFamily="34" charset="-122"/>
                <a:cs typeface="IBM Plex Sans Condensed Bold" pitchFamily="34" charset="-120"/>
              </a:rPr>
              <a:t>MEMORY ISOLATION</a:t>
            </a:r>
            <a:endParaRPr lang="en-US" sz="1000" dirty="0"/>
          </a:p>
        </p:txBody>
      </p:sp>
      <p:sp>
        <p:nvSpPr>
          <p:cNvPr id="12" name="Shape 9"/>
          <p:cNvSpPr/>
          <p:nvPr/>
        </p:nvSpPr>
        <p:spPr>
          <a:xfrm>
            <a:off x="7721407" y="12700"/>
            <a:ext cx="4470288" cy="6832600"/>
          </a:xfrm>
          <a:prstGeom prst="rect">
            <a:avLst/>
          </a:prstGeom>
          <a:solidFill>
            <a:srgbClr val="1B3A8F"/>
          </a:solidFill>
          <a:ln/>
        </p:spPr>
      </p:sp>
      <p:sp>
        <p:nvSpPr>
          <p:cNvPr id="13" name="Text 10"/>
          <p:cNvSpPr/>
          <p:nvPr/>
        </p:nvSpPr>
        <p:spPr>
          <a:xfrm>
            <a:off x="8026199" y="381921"/>
            <a:ext cx="4165496" cy="135930"/>
          </a:xfrm>
          <a:prstGeom prst="rect">
            <a:avLst/>
          </a:prstGeom>
          <a:noFill/>
          <a:ln/>
        </p:spPr>
        <p:txBody>
          <a:bodyPr wrap="none" lIns="0" tIns="0" rIns="0" bIns="0" rtlCol="0" anchor="t"/>
          <a:lstStyle/>
          <a:p>
            <a:pPr algn="l" indent="0" marL="0">
              <a:lnSpc>
                <a:spcPct val="85000"/>
              </a:lnSpc>
              <a:buNone/>
            </a:pPr>
            <a:r>
              <a:rPr lang="en-US" sz="1050" spc="84" kern="100" dirty="0">
                <a:solidFill>
                  <a:srgbClr val="FFFFFF"/>
                </a:solidFill>
                <a:latin typeface="IBM Plex Sans Condensed SemiBold" pitchFamily="34" charset="0"/>
                <a:ea typeface="IBM Plex Sans Condensed SemiBold" pitchFamily="34" charset="-122"/>
                <a:cs typeface="IBM Plex Sans Condensed SemiBold" pitchFamily="34" charset="-120"/>
              </a:rPr>
              <a:t>SEPARATE VALUES</a:t>
            </a:r>
            <a:endParaRPr lang="en-US" sz="1050" dirty="0"/>
          </a:p>
        </p:txBody>
      </p:sp>
      <p:sp>
        <p:nvSpPr>
          <p:cNvPr id="14" name="Text 11"/>
          <p:cNvSpPr/>
          <p:nvPr/>
        </p:nvSpPr>
        <p:spPr>
          <a:xfrm>
            <a:off x="8026199" y="744260"/>
            <a:ext cx="3860703" cy="2682180"/>
          </a:xfrm>
          <a:prstGeom prst="rect">
            <a:avLst/>
          </a:prstGeom>
          <a:noFill/>
          <a:ln/>
        </p:spPr>
        <p:txBody>
          <a:bodyPr wrap="square" lIns="0" tIns="0" rIns="0" bIns="0" rtlCol="0" anchor="t">
            <a:normAutofit/>
          </a:bodyPr>
          <a:lstStyle/>
          <a:p>
            <a:pPr algn="l" indent="0" marL="0">
              <a:lnSpc>
                <a:spcPct val="67000"/>
              </a:lnSpc>
              <a:buNone/>
            </a:pPr>
            <a:r>
              <a:rPr lang="en-US" sz="8800" b="1" spc="-528" kern="100" dirty="0">
                <a:solidFill>
                  <a:srgbClr val="FFFFFF"/>
                </a:solidFill>
                <a:latin typeface="IBM Plex Sans Condensed Bold" pitchFamily="34" charset="0"/>
                <a:ea typeface="IBM Plex Sans Condensed Bold" pitchFamily="34" charset="-122"/>
                <a:cs typeface="IBM Plex Sans Condensed Bold" pitchFamily="34" charset="-120"/>
              </a:rPr>
              <a:t>100</a:t>
            </a:r>
            <a:endParaRPr lang="en-US" sz="8800" dirty="0"/>
          </a:p>
          <a:p>
            <a:pPr algn="l" indent="0" marL="0">
              <a:lnSpc>
                <a:spcPct val="67000"/>
              </a:lnSpc>
              <a:buNone/>
            </a:pPr>
            <a:r>
              <a:rPr lang="en-US" sz="8800" b="1" spc="-528" kern="100" dirty="0">
                <a:solidFill>
                  <a:srgbClr val="FFFFFF"/>
                </a:solidFill>
                <a:latin typeface="IBM Plex Sans Condensed Bold" pitchFamily="34" charset="0"/>
                <a:ea typeface="IBM Plex Sans Condensed Bold" pitchFamily="34" charset="-122"/>
                <a:cs typeface="IBM Plex Sans Condensed Bold" pitchFamily="34" charset="-120"/>
              </a:rPr>
              <a:t>→</a:t>
            </a:r>
            <a:endParaRPr lang="en-US" sz="8800" dirty="0"/>
          </a:p>
          <a:p>
            <a:pPr algn="l" indent="0" marL="0">
              <a:lnSpc>
                <a:spcPct val="67000"/>
              </a:lnSpc>
              <a:buNone/>
            </a:pPr>
            <a:r>
              <a:rPr lang="en-US" sz="8800" b="1" spc="-528" kern="100" dirty="0">
                <a:solidFill>
                  <a:srgbClr val="FFFFFF"/>
                </a:solidFill>
                <a:latin typeface="IBM Plex Sans Condensed Bold" pitchFamily="34" charset="0"/>
                <a:ea typeface="IBM Plex Sans Condensed Bold" pitchFamily="34" charset="-122"/>
                <a:cs typeface="IBM Plex Sans Condensed Bold" pitchFamily="34" charset="-120"/>
              </a:rPr>
              <a:t>200</a:t>
            </a:r>
            <a:endParaRPr lang="en-US" sz="8800" dirty="0"/>
          </a:p>
        </p:txBody>
      </p:sp>
      <p:sp>
        <p:nvSpPr>
          <p:cNvPr id="15" name="Shape 12"/>
          <p:cNvSpPr/>
          <p:nvPr/>
        </p:nvSpPr>
        <p:spPr>
          <a:xfrm>
            <a:off x="8026199" y="3389610"/>
            <a:ext cx="3860604" cy="19050"/>
          </a:xfrm>
          <a:prstGeom prst="roundRect">
            <a:avLst>
              <a:gd name="adj" fmla="val 49999"/>
            </a:avLst>
          </a:prstGeom>
          <a:solidFill>
            <a:srgbClr val="1B3A8F">
              <a:alpha val="36000"/>
            </a:srgbClr>
          </a:solidFill>
          <a:ln/>
        </p:spPr>
      </p:sp>
      <p:sp>
        <p:nvSpPr>
          <p:cNvPr id="16" name="Text 13"/>
          <p:cNvSpPr/>
          <p:nvPr/>
        </p:nvSpPr>
        <p:spPr>
          <a:xfrm>
            <a:off x="8026199" y="3667232"/>
            <a:ext cx="3860703" cy="712589"/>
          </a:xfrm>
          <a:prstGeom prst="rect">
            <a:avLst/>
          </a:prstGeom>
          <a:noFill/>
          <a:ln/>
        </p:spPr>
        <p:txBody>
          <a:bodyPr wrap="square" lIns="0" tIns="0" rIns="0" bIns="0" rtlCol="0" anchor="t">
            <a:normAutofit/>
          </a:bodyPr>
          <a:lstStyle/>
          <a:p>
            <a:pPr algn="l" indent="0" marL="0">
              <a:lnSpc>
                <a:spcPct val="102000"/>
              </a:lnSpc>
              <a:buNone/>
            </a:pPr>
            <a:r>
              <a:rPr lang="en-US" sz="2300" dirty="0">
                <a:solidFill>
                  <a:srgbClr val="FFFFFF"/>
                </a:solidFill>
                <a:latin typeface="IBM Plex Sans Condensed Medium" pitchFamily="34" charset="0"/>
                <a:ea typeface="IBM Plex Sans Condensed Medium" pitchFamily="34" charset="-122"/>
                <a:cs typeface="IBM Plex Sans Condensed Medium" pitchFamily="34" charset="-120"/>
              </a:rPr>
              <a:t>Parent keeps 100; child changes its value to 200.</a:t>
            </a:r>
            <a:endParaRPr lang="en-US" sz="2300" dirty="0"/>
          </a:p>
        </p:txBody>
      </p:sp>
      <p:sp>
        <p:nvSpPr>
          <p:cNvPr id="17" name="Shape 14"/>
          <p:cNvSpPr/>
          <p:nvPr/>
        </p:nvSpPr>
        <p:spPr>
          <a:xfrm>
            <a:off x="7708707" y="12700"/>
            <a:ext cx="25399" cy="6832600"/>
          </a:xfrm>
          <a:prstGeom prst="rect">
            <a:avLst/>
          </a:prstGeom>
          <a:solidFill>
            <a:srgbClr val="1B3A8F"/>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04792" y="318421"/>
            <a:ext cx="11886903" cy="135930"/>
          </a:xfrm>
          <a:prstGeom prst="rect">
            <a:avLst/>
          </a:prstGeom>
          <a:noFill/>
          <a:ln/>
        </p:spPr>
        <p:txBody>
          <a:bodyPr wrap="none" lIns="0" tIns="0" rIns="0" bIns="0" rtlCol="0" anchor="t"/>
          <a:lstStyle/>
          <a:p>
            <a:pPr algn="l" indent="0" marL="0">
              <a:lnSpc>
                <a:spcPct val="85000"/>
              </a:lnSpc>
              <a:buNone/>
            </a:pPr>
            <a:r>
              <a:rPr lang="en-US" sz="1050" spc="84" kern="100" dirty="0">
                <a:solidFill>
                  <a:srgbClr val="1B3A8F"/>
                </a:solidFill>
                <a:latin typeface="IBM Plex Sans Condensed SemiBold" pitchFamily="34" charset="0"/>
                <a:ea typeface="IBM Plex Sans Condensed SemiBold" pitchFamily="34" charset="-122"/>
                <a:cs typeface="IBM Plex Sans Condensed SemiBold" pitchFamily="34" charset="-120"/>
              </a:rPr>
              <a:t>COMPILED AND RUN SUCCESSFULLY · EXPECTED OUTPUT</a:t>
            </a:r>
            <a:endParaRPr lang="en-US" sz="1050" dirty="0"/>
          </a:p>
        </p:txBody>
      </p:sp>
      <p:sp>
        <p:nvSpPr>
          <p:cNvPr id="3" name="Text 1"/>
          <p:cNvSpPr/>
          <p:nvPr/>
        </p:nvSpPr>
        <p:spPr>
          <a:xfrm>
            <a:off x="304792" y="549950"/>
            <a:ext cx="11582110" cy="777081"/>
          </a:xfrm>
          <a:prstGeom prst="rect">
            <a:avLst/>
          </a:prstGeom>
          <a:noFill/>
          <a:ln/>
        </p:spPr>
        <p:txBody>
          <a:bodyPr wrap="square" lIns="0" tIns="0" rIns="0" bIns="0" rtlCol="0" anchor="t">
            <a:normAutofit/>
          </a:bodyPr>
          <a:lstStyle/>
          <a:p>
            <a:pPr algn="l" indent="0" marL="0">
              <a:lnSpc>
                <a:spcPct val="75000"/>
              </a:lnSpc>
              <a:buNone/>
            </a:pPr>
            <a:r>
              <a:rPr lang="en-US" sz="3400" b="1" spc="-119" kern="100" dirty="0">
                <a:solidFill>
                  <a:srgbClr val="1B3A8F"/>
                </a:solidFill>
                <a:latin typeface="IBM Plex Sans Condensed Bold" pitchFamily="34" charset="0"/>
                <a:ea typeface="IBM Plex Sans Condensed Bold" pitchFamily="34" charset="-122"/>
                <a:cs typeface="IBM Plex Sans Condensed Bold" pitchFamily="34" charset="-120"/>
              </a:rPr>
              <a:t>THE EXPECTED OUTPUT</a:t>
            </a:r>
            <a:endParaRPr lang="en-US" sz="3400" dirty="0"/>
          </a:p>
          <a:p>
            <a:pPr algn="l" indent="0" marL="0">
              <a:lnSpc>
                <a:spcPct val="75000"/>
              </a:lnSpc>
              <a:buNone/>
            </a:pPr>
            <a:r>
              <a:rPr lang="en-US" sz="3400" b="1" spc="-119" kern="100" dirty="0">
                <a:solidFill>
                  <a:srgbClr val="1B3A8F"/>
                </a:solidFill>
                <a:latin typeface="IBM Plex Sans Condensed Bold" pitchFamily="34" charset="0"/>
                <a:ea typeface="IBM Plex Sans Condensed Bold" pitchFamily="34" charset="-122"/>
                <a:cs typeface="IBM Plex Sans Condensed Bold" pitchFamily="34" charset="-120"/>
              </a:rPr>
              <a:t>CONFIRMS SEPARATE VALUES</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04792" y="2522736"/>
          <a:ext cx="11582110" cy="914400"/>
        </p:xfrm>
        <a:graphic>
          <a:graphicData uri="http://schemas.openxmlformats.org/drawingml/2006/table">
            <a:tbl>
              <a:tblPr/>
              <a:tblGrid>
                <a:gridCol w="6370121"/>
                <a:gridCol w="5211989"/>
              </a:tblGrid>
              <a:tr h="321361">
                <a:tc>
                  <a:txBody>
                    <a:bodyPr/>
                    <a:lstStyle/>
                    <a:p>
                      <a:pPr algn="l" indent="0" marL="0">
                        <a:buNone/>
                      </a:pPr>
                      <a:r>
                        <a:rPr lang="en-US" sz="1050" b="1" spc="84" kern="100" dirty="0">
                          <a:solidFill>
                            <a:srgbClr val="FFFFFF"/>
                          </a:solidFill>
                          <a:latin typeface="IBM Plex Sans Condensed" pitchFamily="34" charset="0"/>
                          <a:ea typeface="IBM Plex Sans Condensed" pitchFamily="34" charset="-122"/>
                          <a:cs typeface="IBM Plex Sans Condensed" pitchFamily="34" charset="-120"/>
                        </a:rPr>
                        <a:t>OUTPUT LINE</a:t>
                      </a:r>
                      <a:endParaRPr lang="en-US" sz="1050" dirty="0">
                        <a:latin typeface="IBM Plex Sans Condensed" charset="0"/>
                        <a:ea typeface="IBM Plex Sans Condensed" charset="0"/>
                        <a:cs typeface="IBM Plex Sans Condensed" charset="0"/>
                      </a:endParaRPr>
                    </a:p>
                  </a:txBody>
                  <a:tcPr marL="50799" marR="88898" marT="76198" marB="76198" anchor="ctr">
                    <a:lnL w="25399" cap="flat" cmpd="sng" algn="ctr">
                      <a:solidFill>
                        <a:srgbClr val="ADB8D7"/>
                      </a:solidFill>
                      <a:prstDash val="solid"/>
                      <a:round/>
                      <a:headEnd type="none" w="med" len="med"/>
                      <a:tailEnd type="none" w="med" len="med"/>
                    </a:lnL>
                    <a:lnR w="25399" cap="flat" cmpd="sng" algn="ctr">
                      <a:solidFill>
                        <a:srgbClr val="ADB8D7"/>
                      </a:solidFill>
                      <a:prstDash val="solid"/>
                      <a:round/>
                      <a:headEnd type="none" w="med" len="med"/>
                      <a:tailEnd type="none" w="med" len="med"/>
                    </a:lnR>
                    <a:lnT w="25399" cap="flat" cmpd="sng" algn="ctr">
                      <a:solidFill>
                        <a:srgbClr val="ADB8D7"/>
                      </a:solidFill>
                      <a:prstDash val="solid"/>
                      <a:round/>
                      <a:headEnd type="none" w="med" len="med"/>
                      <a:tailEnd type="none" w="med" len="med"/>
                    </a:lnT>
                    <a:lnB w="25399" cap="flat" cmpd="sng" algn="ctr">
                      <a:solidFill>
                        <a:srgbClr val="ADB8D7"/>
                      </a:solidFill>
                      <a:prstDash val="solid"/>
                      <a:round/>
                      <a:headEnd type="none" w="med" len="med"/>
                      <a:tailEnd type="none" w="med" len="med"/>
                    </a:lnB>
                    <a:solidFill>
                      <a:srgbClr val="1B3A8F"/>
                    </a:solidFill>
                  </a:tcPr>
                </a:tc>
                <a:tc>
                  <a:txBody>
                    <a:bodyPr/>
                    <a:lstStyle/>
                    <a:p>
                      <a:pPr algn="l" indent="0" marL="0">
                        <a:buNone/>
                      </a:pPr>
                      <a:r>
                        <a:rPr lang="en-US" sz="1050" b="1" spc="84" kern="100" dirty="0">
                          <a:solidFill>
                            <a:srgbClr val="FFFFFF"/>
                          </a:solidFill>
                          <a:latin typeface="IBM Plex Sans Condensed" pitchFamily="34" charset="0"/>
                          <a:ea typeface="IBM Plex Sans Condensed" pitchFamily="34" charset="-122"/>
                          <a:cs typeface="IBM Plex Sans Condensed" pitchFamily="34" charset="-120"/>
                        </a:rPr>
                        <a:t>VALUE</a:t>
                      </a:r>
                      <a:endParaRPr lang="en-US" sz="1050" dirty="0">
                        <a:latin typeface="IBM Plex Sans Condensed" charset="0"/>
                        <a:ea typeface="IBM Plex Sans Condensed" charset="0"/>
                        <a:cs typeface="IBM Plex Sans Condensed" charset="0"/>
                      </a:endParaRPr>
                    </a:p>
                  </a:txBody>
                  <a:tcPr marL="50799" marR="88898" marT="76198" marB="76198" anchor="ctr">
                    <a:lnL w="25399" cap="flat" cmpd="sng" algn="ctr">
                      <a:solidFill>
                        <a:srgbClr val="ADB8D7"/>
                      </a:solidFill>
                      <a:prstDash val="solid"/>
                      <a:round/>
                      <a:headEnd type="none" w="med" len="med"/>
                      <a:tailEnd type="none" w="med" len="med"/>
                    </a:lnL>
                    <a:lnR w="25399" cap="flat" cmpd="sng" algn="ctr">
                      <a:solidFill>
                        <a:srgbClr val="ADB8D7"/>
                      </a:solidFill>
                      <a:prstDash val="solid"/>
                      <a:round/>
                      <a:headEnd type="none" w="med" len="med"/>
                      <a:tailEnd type="none" w="med" len="med"/>
                    </a:lnR>
                    <a:lnT w="25399" cap="flat" cmpd="sng" algn="ctr">
                      <a:solidFill>
                        <a:srgbClr val="ADB8D7"/>
                      </a:solidFill>
                      <a:prstDash val="solid"/>
                      <a:round/>
                      <a:headEnd type="none" w="med" len="med"/>
                      <a:tailEnd type="none" w="med" len="med"/>
                    </a:lnT>
                    <a:lnB w="25399" cap="flat" cmpd="sng" algn="ctr">
                      <a:solidFill>
                        <a:srgbClr val="ADB8D7"/>
                      </a:solidFill>
                      <a:prstDash val="solid"/>
                      <a:round/>
                      <a:headEnd type="none" w="med" len="med"/>
                      <a:tailEnd type="none" w="med" len="med"/>
                    </a:lnB>
                    <a:solidFill>
                      <a:srgbClr val="1B3A8F"/>
                    </a:solidFill>
                  </a:tcPr>
                </a:tc>
              </a:tr>
              <a:tr h="352416">
                <a:tc>
                  <a:txBody>
                    <a:bodyPr/>
                    <a:lstStyle/>
                    <a:p>
                      <a:pPr algn="l" indent="0" marL="0">
                        <a:buNone/>
                      </a:pPr>
                      <a:r>
                        <a:rPr lang="en-US" sz="1250" dirty="0">
                          <a:solidFill>
                            <a:srgbClr val="1B3A8F"/>
                          </a:solidFill>
                          <a:latin typeface="IBM Plex Sans Condensed" pitchFamily="34" charset="0"/>
                          <a:ea typeface="IBM Plex Sans Condensed" pitchFamily="34" charset="-122"/>
                          <a:cs typeface="IBM Plex Sans Condensed" pitchFamily="34" charset="-120"/>
                        </a:rPr>
                        <a:t>Initial value</a:t>
                      </a:r>
                      <a:endParaRPr lang="en-US" sz="1250" dirty="0">
                        <a:latin typeface="IBM Plex Sans Condensed" charset="0"/>
                        <a:ea typeface="IBM Plex Sans Condensed" charset="0"/>
                        <a:cs typeface="IBM Plex Sans Condensed" charset="0"/>
                      </a:endParaRPr>
                    </a:p>
                  </a:txBody>
                  <a:tcPr marL="50799" marR="88898" marT="76198" marB="76198" anchor="ctr">
                    <a:lnL w="25399" cap="flat" cmpd="sng" algn="ctr">
                      <a:solidFill>
                        <a:srgbClr val="ADB8D7"/>
                      </a:solidFill>
                      <a:prstDash val="solid"/>
                      <a:round/>
                      <a:headEnd type="none" w="med" len="med"/>
                      <a:tailEnd type="none" w="med" len="med"/>
                    </a:lnL>
                    <a:lnR w="25399" cap="flat" cmpd="sng" algn="ctr">
                      <a:solidFill>
                        <a:srgbClr val="ADB8D7"/>
                      </a:solidFill>
                      <a:prstDash val="solid"/>
                      <a:round/>
                      <a:headEnd type="none" w="med" len="med"/>
                      <a:tailEnd type="none" w="med" len="med"/>
                    </a:lnR>
                    <a:lnT w="25399" cap="flat" cmpd="sng" algn="ctr">
                      <a:solidFill>
                        <a:srgbClr val="ADB8D7"/>
                      </a:solidFill>
                      <a:prstDash val="solid"/>
                      <a:round/>
                      <a:headEnd type="none" w="med" len="med"/>
                      <a:tailEnd type="none" w="med" len="med"/>
                    </a:lnT>
                    <a:lnB w="25399" cap="flat" cmpd="sng" algn="ctr">
                      <a:solidFill>
                        <a:srgbClr val="ADB8D7"/>
                      </a:solidFill>
                      <a:prstDash val="solid"/>
                      <a:round/>
                      <a:headEnd type="none" w="med" len="med"/>
                      <a:tailEnd type="none" w="med" len="med"/>
                    </a:lnB>
                  </a:tcPr>
                </a:tc>
                <a:tc>
                  <a:txBody>
                    <a:bodyPr/>
                    <a:lstStyle/>
                    <a:p>
                      <a:pPr algn="l" indent="0" marL="0">
                        <a:buNone/>
                      </a:pPr>
                      <a:r>
                        <a:rPr lang="en-US" sz="1250" b="1" dirty="0">
                          <a:solidFill>
                            <a:srgbClr val="1B3A8F"/>
                          </a:solidFill>
                          <a:latin typeface="IBM Plex Sans Condensed" pitchFamily="34" charset="0"/>
                          <a:ea typeface="IBM Plex Sans Condensed" pitchFamily="34" charset="-122"/>
                          <a:cs typeface="IBM Plex Sans Condensed" pitchFamily="34" charset="-120"/>
                        </a:rPr>
                        <a:t>100</a:t>
                      </a:r>
                      <a:endParaRPr lang="en-US" sz="1250" dirty="0">
                        <a:latin typeface="IBM Plex Sans Condensed" charset="0"/>
                        <a:ea typeface="IBM Plex Sans Condensed" charset="0"/>
                        <a:cs typeface="IBM Plex Sans Condensed" charset="0"/>
                      </a:endParaRPr>
                    </a:p>
                  </a:txBody>
                  <a:tcPr marL="50799" marR="88898" marT="76198" marB="76198" anchor="ctr">
                    <a:lnL w="25399" cap="flat" cmpd="sng" algn="ctr">
                      <a:solidFill>
                        <a:srgbClr val="ADB8D7"/>
                      </a:solidFill>
                      <a:prstDash val="solid"/>
                      <a:round/>
                      <a:headEnd type="none" w="med" len="med"/>
                      <a:tailEnd type="none" w="med" len="med"/>
                    </a:lnL>
                    <a:lnR w="25399" cap="flat" cmpd="sng" algn="ctr">
                      <a:solidFill>
                        <a:srgbClr val="ADB8D7"/>
                      </a:solidFill>
                      <a:prstDash val="solid"/>
                      <a:round/>
                      <a:headEnd type="none" w="med" len="med"/>
                      <a:tailEnd type="none" w="med" len="med"/>
                    </a:lnR>
                    <a:lnT w="25399" cap="flat" cmpd="sng" algn="ctr">
                      <a:solidFill>
                        <a:srgbClr val="ADB8D7"/>
                      </a:solidFill>
                      <a:prstDash val="solid"/>
                      <a:round/>
                      <a:headEnd type="none" w="med" len="med"/>
                      <a:tailEnd type="none" w="med" len="med"/>
                    </a:lnT>
                    <a:lnB w="25399" cap="flat" cmpd="sng" algn="ctr">
                      <a:solidFill>
                        <a:srgbClr val="ADB8D7"/>
                      </a:solidFill>
                      <a:prstDash val="solid"/>
                      <a:round/>
                      <a:headEnd type="none" w="med" len="med"/>
                      <a:tailEnd type="none" w="med" len="med"/>
                    </a:lnB>
                  </a:tcPr>
                </a:tc>
              </a:tr>
              <a:tr h="352416">
                <a:tc>
                  <a:txBody>
                    <a:bodyPr/>
                    <a:lstStyle/>
                    <a:p>
                      <a:pPr algn="l" indent="0" marL="0">
                        <a:buNone/>
                      </a:pPr>
                      <a:r>
                        <a:rPr lang="en-US" sz="1250" dirty="0">
                          <a:solidFill>
                            <a:srgbClr val="1B3A8F"/>
                          </a:solidFill>
                          <a:latin typeface="IBM Plex Sans Condensed" pitchFamily="34" charset="0"/>
                          <a:ea typeface="IBM Plex Sans Condensed" pitchFamily="34" charset="-122"/>
                          <a:cs typeface="IBM Plex Sans Condensed" pitchFamily="34" charset="-120"/>
                        </a:rPr>
                        <a:t>Child before write</a:t>
                      </a:r>
                      <a:endParaRPr lang="en-US" sz="1250" dirty="0">
                        <a:latin typeface="IBM Plex Sans Condensed" charset="0"/>
                        <a:ea typeface="IBM Plex Sans Condensed" charset="0"/>
                        <a:cs typeface="IBM Plex Sans Condensed" charset="0"/>
                      </a:endParaRPr>
                    </a:p>
                  </a:txBody>
                  <a:tcPr marL="50799" marR="88898" marT="76198" marB="76198" anchor="ctr">
                    <a:lnL w="25399" cap="flat" cmpd="sng" algn="ctr">
                      <a:solidFill>
                        <a:srgbClr val="ADB8D7"/>
                      </a:solidFill>
                      <a:prstDash val="solid"/>
                      <a:round/>
                      <a:headEnd type="none" w="med" len="med"/>
                      <a:tailEnd type="none" w="med" len="med"/>
                    </a:lnL>
                    <a:lnR w="25399" cap="flat" cmpd="sng" algn="ctr">
                      <a:solidFill>
                        <a:srgbClr val="ADB8D7"/>
                      </a:solidFill>
                      <a:prstDash val="solid"/>
                      <a:round/>
                      <a:headEnd type="none" w="med" len="med"/>
                      <a:tailEnd type="none" w="med" len="med"/>
                    </a:lnR>
                    <a:lnT w="25399" cap="flat" cmpd="sng" algn="ctr">
                      <a:solidFill>
                        <a:srgbClr val="ADB8D7"/>
                      </a:solidFill>
                      <a:prstDash val="solid"/>
                      <a:round/>
                      <a:headEnd type="none" w="med" len="med"/>
                      <a:tailEnd type="none" w="med" len="med"/>
                    </a:lnT>
                    <a:lnB w="25399" cap="flat" cmpd="sng" algn="ctr">
                      <a:solidFill>
                        <a:srgbClr val="ADB8D7"/>
                      </a:solidFill>
                      <a:prstDash val="solid"/>
                      <a:round/>
                      <a:headEnd type="none" w="med" len="med"/>
                      <a:tailEnd type="none" w="med" len="med"/>
                    </a:lnB>
                  </a:tcPr>
                </a:tc>
                <a:tc>
                  <a:txBody>
                    <a:bodyPr/>
                    <a:lstStyle/>
                    <a:p>
                      <a:pPr algn="l" indent="0" marL="0">
                        <a:buNone/>
                      </a:pPr>
                      <a:r>
                        <a:rPr lang="en-US" sz="1250" b="1" dirty="0">
                          <a:solidFill>
                            <a:srgbClr val="1B3A8F"/>
                          </a:solidFill>
                          <a:latin typeface="IBM Plex Sans Condensed" pitchFamily="34" charset="0"/>
                          <a:ea typeface="IBM Plex Sans Condensed" pitchFamily="34" charset="-122"/>
                          <a:cs typeface="IBM Plex Sans Condensed" pitchFamily="34" charset="-120"/>
                        </a:rPr>
                        <a:t>100</a:t>
                      </a:r>
                      <a:endParaRPr lang="en-US" sz="1250" dirty="0">
                        <a:latin typeface="IBM Plex Sans Condensed" charset="0"/>
                        <a:ea typeface="IBM Plex Sans Condensed" charset="0"/>
                        <a:cs typeface="IBM Plex Sans Condensed" charset="0"/>
                      </a:endParaRPr>
                    </a:p>
                  </a:txBody>
                  <a:tcPr marL="50799" marR="88898" marT="76198" marB="76198" anchor="ctr">
                    <a:lnL w="25399" cap="flat" cmpd="sng" algn="ctr">
                      <a:solidFill>
                        <a:srgbClr val="ADB8D7"/>
                      </a:solidFill>
                      <a:prstDash val="solid"/>
                      <a:round/>
                      <a:headEnd type="none" w="med" len="med"/>
                      <a:tailEnd type="none" w="med" len="med"/>
                    </a:lnL>
                    <a:lnR w="25399" cap="flat" cmpd="sng" algn="ctr">
                      <a:solidFill>
                        <a:srgbClr val="ADB8D7"/>
                      </a:solidFill>
                      <a:prstDash val="solid"/>
                      <a:round/>
                      <a:headEnd type="none" w="med" len="med"/>
                      <a:tailEnd type="none" w="med" len="med"/>
                    </a:lnR>
                    <a:lnT w="25399" cap="flat" cmpd="sng" algn="ctr">
                      <a:solidFill>
                        <a:srgbClr val="ADB8D7"/>
                      </a:solidFill>
                      <a:prstDash val="solid"/>
                      <a:round/>
                      <a:headEnd type="none" w="med" len="med"/>
                      <a:tailEnd type="none" w="med" len="med"/>
                    </a:lnT>
                    <a:lnB w="25399" cap="flat" cmpd="sng" algn="ctr">
                      <a:solidFill>
                        <a:srgbClr val="ADB8D7"/>
                      </a:solidFill>
                      <a:prstDash val="solid"/>
                      <a:round/>
                      <a:headEnd type="none" w="med" len="med"/>
                      <a:tailEnd type="none" w="med" len="med"/>
                    </a:lnB>
                  </a:tcPr>
                </a:tc>
              </a:tr>
              <a:tr h="352416">
                <a:tc>
                  <a:txBody>
                    <a:bodyPr/>
                    <a:lstStyle/>
                    <a:p>
                      <a:pPr algn="l" indent="0" marL="0">
                        <a:buNone/>
                      </a:pPr>
                      <a:r>
                        <a:rPr lang="en-US" sz="1250" dirty="0">
                          <a:solidFill>
                            <a:srgbClr val="1B3A8F"/>
                          </a:solidFill>
                          <a:latin typeface="IBM Plex Sans Condensed" pitchFamily="34" charset="0"/>
                          <a:ea typeface="IBM Plex Sans Condensed" pitchFamily="34" charset="-122"/>
                          <a:cs typeface="IBM Plex Sans Condensed" pitchFamily="34" charset="-120"/>
                        </a:rPr>
                        <a:t>Child after write</a:t>
                      </a:r>
                      <a:endParaRPr lang="en-US" sz="1250" dirty="0">
                        <a:latin typeface="IBM Plex Sans Condensed" charset="0"/>
                        <a:ea typeface="IBM Plex Sans Condensed" charset="0"/>
                        <a:cs typeface="IBM Plex Sans Condensed" charset="0"/>
                      </a:endParaRPr>
                    </a:p>
                  </a:txBody>
                  <a:tcPr marL="50799" marR="88898" marT="76198" marB="76198" anchor="ctr">
                    <a:lnL w="25399" cap="flat" cmpd="sng" algn="ctr">
                      <a:solidFill>
                        <a:srgbClr val="ADB8D7"/>
                      </a:solidFill>
                      <a:prstDash val="solid"/>
                      <a:round/>
                      <a:headEnd type="none" w="med" len="med"/>
                      <a:tailEnd type="none" w="med" len="med"/>
                    </a:lnL>
                    <a:lnR w="25399" cap="flat" cmpd="sng" algn="ctr">
                      <a:solidFill>
                        <a:srgbClr val="ADB8D7"/>
                      </a:solidFill>
                      <a:prstDash val="solid"/>
                      <a:round/>
                      <a:headEnd type="none" w="med" len="med"/>
                      <a:tailEnd type="none" w="med" len="med"/>
                    </a:lnR>
                    <a:lnT w="25399" cap="flat" cmpd="sng" algn="ctr">
                      <a:solidFill>
                        <a:srgbClr val="ADB8D7"/>
                      </a:solidFill>
                      <a:prstDash val="solid"/>
                      <a:round/>
                      <a:headEnd type="none" w="med" len="med"/>
                      <a:tailEnd type="none" w="med" len="med"/>
                    </a:lnT>
                    <a:lnB w="25399" cap="flat" cmpd="sng" algn="ctr">
                      <a:solidFill>
                        <a:srgbClr val="ADB8D7"/>
                      </a:solidFill>
                      <a:prstDash val="solid"/>
                      <a:round/>
                      <a:headEnd type="none" w="med" len="med"/>
                      <a:tailEnd type="none" w="med" len="med"/>
                    </a:lnB>
                  </a:tcPr>
                </a:tc>
                <a:tc>
                  <a:txBody>
                    <a:bodyPr/>
                    <a:lstStyle/>
                    <a:p>
                      <a:pPr algn="l" indent="0" marL="0">
                        <a:buNone/>
                      </a:pPr>
                      <a:r>
                        <a:rPr lang="en-US" sz="1250" b="1" dirty="0">
                          <a:solidFill>
                            <a:srgbClr val="1B3A8F"/>
                          </a:solidFill>
                          <a:latin typeface="IBM Plex Sans Condensed" pitchFamily="34" charset="0"/>
                          <a:ea typeface="IBM Plex Sans Condensed" pitchFamily="34" charset="-122"/>
                          <a:cs typeface="IBM Plex Sans Condensed" pitchFamily="34" charset="-120"/>
                        </a:rPr>
                        <a:t>200</a:t>
                      </a:r>
                      <a:endParaRPr lang="en-US" sz="1250" dirty="0">
                        <a:latin typeface="IBM Plex Sans Condensed" charset="0"/>
                        <a:ea typeface="IBM Plex Sans Condensed" charset="0"/>
                        <a:cs typeface="IBM Plex Sans Condensed" charset="0"/>
                      </a:endParaRPr>
                    </a:p>
                  </a:txBody>
                  <a:tcPr marL="50799" marR="88898" marT="76198" marB="76198" anchor="ctr">
                    <a:lnL w="25399" cap="flat" cmpd="sng" algn="ctr">
                      <a:solidFill>
                        <a:srgbClr val="ADB8D7"/>
                      </a:solidFill>
                      <a:prstDash val="solid"/>
                      <a:round/>
                      <a:headEnd type="none" w="med" len="med"/>
                      <a:tailEnd type="none" w="med" len="med"/>
                    </a:lnL>
                    <a:lnR w="25399" cap="flat" cmpd="sng" algn="ctr">
                      <a:solidFill>
                        <a:srgbClr val="ADB8D7"/>
                      </a:solidFill>
                      <a:prstDash val="solid"/>
                      <a:round/>
                      <a:headEnd type="none" w="med" len="med"/>
                      <a:tailEnd type="none" w="med" len="med"/>
                    </a:lnR>
                    <a:lnT w="25399" cap="flat" cmpd="sng" algn="ctr">
                      <a:solidFill>
                        <a:srgbClr val="ADB8D7"/>
                      </a:solidFill>
                      <a:prstDash val="solid"/>
                      <a:round/>
                      <a:headEnd type="none" w="med" len="med"/>
                      <a:tailEnd type="none" w="med" len="med"/>
                    </a:lnT>
                    <a:lnB w="25399" cap="flat" cmpd="sng" algn="ctr">
                      <a:solidFill>
                        <a:srgbClr val="ADB8D7"/>
                      </a:solidFill>
                      <a:prstDash val="solid"/>
                      <a:round/>
                      <a:headEnd type="none" w="med" len="med"/>
                      <a:tailEnd type="none" w="med" len="med"/>
                    </a:lnB>
                  </a:tcPr>
                </a:tc>
              </a:tr>
              <a:tr h="346066">
                <a:tc>
                  <a:txBody>
                    <a:bodyPr/>
                    <a:lstStyle/>
                    <a:p>
                      <a:pPr algn="l" indent="0" marL="0">
                        <a:buNone/>
                      </a:pPr>
                      <a:r>
                        <a:rPr lang="en-US" sz="1250" dirty="0">
                          <a:solidFill>
                            <a:srgbClr val="1B3A8F"/>
                          </a:solidFill>
                          <a:latin typeface="IBM Plex Sans Condensed" pitchFamily="34" charset="0"/>
                          <a:ea typeface="IBM Plex Sans Condensed" pitchFamily="34" charset="-122"/>
                          <a:cs typeface="IBM Plex Sans Condensed" pitchFamily="34" charset="-120"/>
                        </a:rPr>
                        <a:t>Parent after child write</a:t>
                      </a:r>
                      <a:endParaRPr lang="en-US" sz="1250" dirty="0">
                        <a:latin typeface="IBM Plex Sans Condensed" charset="0"/>
                        <a:ea typeface="IBM Plex Sans Condensed" charset="0"/>
                        <a:cs typeface="IBM Plex Sans Condensed" charset="0"/>
                      </a:endParaRPr>
                    </a:p>
                  </a:txBody>
                  <a:tcPr marL="50799" marR="88898" marT="76198" marB="76198" anchor="ctr">
                    <a:lnL w="25399" cap="flat" cmpd="sng" algn="ctr">
                      <a:solidFill>
                        <a:srgbClr val="ADB8D7"/>
                      </a:solidFill>
                      <a:prstDash val="solid"/>
                      <a:round/>
                      <a:headEnd type="none" w="med" len="med"/>
                      <a:tailEnd type="none" w="med" len="med"/>
                    </a:lnL>
                    <a:lnR w="25399" cap="flat" cmpd="sng" algn="ctr">
                      <a:solidFill>
                        <a:srgbClr val="ADB8D7"/>
                      </a:solidFill>
                      <a:prstDash val="solid"/>
                      <a:round/>
                      <a:headEnd type="none" w="med" len="med"/>
                      <a:tailEnd type="none" w="med" len="med"/>
                    </a:lnR>
                    <a:lnT w="25399" cap="flat" cmpd="sng" algn="ctr">
                      <a:solidFill>
                        <a:srgbClr val="ADB8D7"/>
                      </a:solidFill>
                      <a:prstDash val="solid"/>
                      <a:round/>
                      <a:headEnd type="none" w="med" len="med"/>
                      <a:tailEnd type="none" w="med" len="med"/>
                    </a:lnT>
                    <a:lnB w="25399" cap="flat" cmpd="sng" algn="ctr">
                      <a:solidFill>
                        <a:srgbClr val="ADB8D7"/>
                      </a:solidFill>
                      <a:prstDash val="solid"/>
                      <a:round/>
                      <a:headEnd type="none" w="med" len="med"/>
                      <a:tailEnd type="none" w="med" len="med"/>
                    </a:lnB>
                  </a:tcPr>
                </a:tc>
                <a:tc>
                  <a:txBody>
                    <a:bodyPr/>
                    <a:lstStyle/>
                    <a:p>
                      <a:pPr algn="l" indent="0" marL="0">
                        <a:buNone/>
                      </a:pPr>
                      <a:r>
                        <a:rPr lang="en-US" sz="1250" b="1" dirty="0">
                          <a:solidFill>
                            <a:srgbClr val="1B3A8F"/>
                          </a:solidFill>
                          <a:latin typeface="IBM Plex Sans Condensed" pitchFamily="34" charset="0"/>
                          <a:ea typeface="IBM Plex Sans Condensed" pitchFamily="34" charset="-122"/>
                          <a:cs typeface="IBM Plex Sans Condensed" pitchFamily="34" charset="-120"/>
                        </a:rPr>
                        <a:t>100</a:t>
                      </a:r>
                      <a:endParaRPr lang="en-US" sz="1250" dirty="0">
                        <a:latin typeface="IBM Plex Sans Condensed" charset="0"/>
                        <a:ea typeface="IBM Plex Sans Condensed" charset="0"/>
                        <a:cs typeface="IBM Plex Sans Condensed" charset="0"/>
                      </a:endParaRPr>
                    </a:p>
                  </a:txBody>
                  <a:tcPr marL="50799" marR="88898" marT="76198" marB="76198" anchor="ctr">
                    <a:lnL w="25399" cap="flat" cmpd="sng" algn="ctr">
                      <a:solidFill>
                        <a:srgbClr val="ADB8D7"/>
                      </a:solidFill>
                      <a:prstDash val="solid"/>
                      <a:round/>
                      <a:headEnd type="none" w="med" len="med"/>
                      <a:tailEnd type="none" w="med" len="med"/>
                    </a:lnL>
                    <a:lnR w="25399" cap="flat" cmpd="sng" algn="ctr">
                      <a:solidFill>
                        <a:srgbClr val="ADB8D7"/>
                      </a:solidFill>
                      <a:prstDash val="solid"/>
                      <a:round/>
                      <a:headEnd type="none" w="med" len="med"/>
                      <a:tailEnd type="none" w="med" len="med"/>
                    </a:lnR>
                    <a:lnT w="25399" cap="flat" cmpd="sng" algn="ctr">
                      <a:solidFill>
                        <a:srgbClr val="ADB8D7"/>
                      </a:solidFill>
                      <a:prstDash val="solid"/>
                      <a:round/>
                      <a:headEnd type="none" w="med" len="med"/>
                      <a:tailEnd type="none" w="med" len="med"/>
                    </a:lnT>
                    <a:lnB w="25399" cap="flat" cmpd="sng" algn="ctr">
                      <a:solidFill>
                        <a:srgbClr val="ADB8D7"/>
                      </a:solidFill>
                      <a:prstDash val="solid"/>
                      <a:round/>
                      <a:headEnd type="none" w="med" len="med"/>
                      <a:tailEnd type="none" w="med" len="med"/>
                    </a:lnB>
                  </a:tcPr>
                </a:tc>
              </a:tr>
            </a:tbl>
          </a:graphicData>
        </a:graphic>
      </p:graphicFrame>
      <p:sp>
        <p:nvSpPr>
          <p:cNvPr id="5" name="Text 2"/>
          <p:cNvSpPr/>
          <p:nvPr/>
        </p:nvSpPr>
        <p:spPr>
          <a:xfrm>
            <a:off x="304792" y="4399602"/>
            <a:ext cx="5638659" cy="433784"/>
          </a:xfrm>
          <a:prstGeom prst="rect">
            <a:avLst/>
          </a:prstGeom>
          <a:noFill/>
          <a:ln/>
        </p:spPr>
        <p:txBody>
          <a:bodyPr wrap="square" lIns="0" tIns="0" rIns="0" bIns="0" rtlCol="0" anchor="t">
            <a:normAutofit/>
          </a:bodyPr>
          <a:lstStyle/>
          <a:p>
            <a:pPr algn="l" indent="0" marL="0">
              <a:lnSpc>
                <a:spcPct val="102000"/>
              </a:lnSpc>
              <a:buNone/>
            </a:pPr>
            <a:r>
              <a:rPr lang="en-US" sz="1400" dirty="0">
                <a:solidFill>
                  <a:srgbClr val="1B3A8F"/>
                </a:solidFill>
                <a:latin typeface="IBM Plex Sans Condensed" pitchFamily="34" charset="0"/>
                <a:ea typeface="IBM Plex Sans Condensed" pitchFamily="34" charset="-122"/>
                <a:cs typeface="IBM Plex Sans Condensed" pitchFamily="34" charset="-120"/>
              </a:rPr>
              <a:t>The child changes its value, but the parent still reads 100. This demonstrates separate memory behavior.</a:t>
            </a:r>
            <a:endParaRPr lang="en-US" sz="1400" dirty="0"/>
          </a:p>
        </p:txBody>
      </p:sp>
      <p:sp>
        <p:nvSpPr>
          <p:cNvPr id="6" name="Text 3"/>
          <p:cNvSpPr/>
          <p:nvPr/>
        </p:nvSpPr>
        <p:spPr>
          <a:xfrm>
            <a:off x="6248244" y="4400776"/>
            <a:ext cx="5638659" cy="135930"/>
          </a:xfrm>
          <a:prstGeom prst="rect">
            <a:avLst/>
          </a:prstGeom>
          <a:noFill/>
          <a:ln/>
        </p:spPr>
        <p:txBody>
          <a:bodyPr wrap="none" lIns="0" tIns="0" rIns="0" bIns="0" rtlCol="0" anchor="t"/>
          <a:lstStyle/>
          <a:p>
            <a:pPr algn="l" indent="0" marL="0">
              <a:lnSpc>
                <a:spcPct val="85000"/>
              </a:lnSpc>
              <a:buNone/>
            </a:pPr>
            <a:r>
              <a:rPr lang="en-US" sz="1050" spc="84" kern="100" dirty="0">
                <a:solidFill>
                  <a:srgbClr val="1B3A8F"/>
                </a:solidFill>
                <a:latin typeface="IBM Plex Sans Condensed SemiBold" pitchFamily="34" charset="0"/>
                <a:ea typeface="IBM Plex Sans Condensed SemiBold" pitchFamily="34" charset="-122"/>
                <a:cs typeface="IBM Plex Sans Condensed SemiBold" pitchFamily="34" charset="-120"/>
              </a:rPr>
              <a:t>COMPILE</a:t>
            </a:r>
            <a:endParaRPr lang="en-US" sz="1050" dirty="0"/>
          </a:p>
        </p:txBody>
      </p:sp>
      <p:sp>
        <p:nvSpPr>
          <p:cNvPr id="7" name="Text 4"/>
          <p:cNvSpPr/>
          <p:nvPr/>
        </p:nvSpPr>
        <p:spPr>
          <a:xfrm>
            <a:off x="6248244" y="4602206"/>
            <a:ext cx="5638659" cy="216892"/>
          </a:xfrm>
          <a:prstGeom prst="rect">
            <a:avLst/>
          </a:prstGeom>
          <a:noFill/>
          <a:ln/>
        </p:spPr>
        <p:txBody>
          <a:bodyPr wrap="none" lIns="0" tIns="0" rIns="0" bIns="0" rtlCol="0" anchor="t"/>
          <a:lstStyle/>
          <a:p>
            <a:pPr algn="l" indent="0" marL="0">
              <a:lnSpc>
                <a:spcPct val="102000"/>
              </a:lnSpc>
              <a:buNone/>
            </a:pPr>
            <a:r>
              <a:rPr lang="en-US" sz="1400" dirty="0">
                <a:solidFill>
                  <a:srgbClr val="1B3A8F"/>
                </a:solidFill>
                <a:latin typeface="IBM Plex Sans Condensed" pitchFamily="34" charset="0"/>
                <a:ea typeface="IBM Plex Sans Condensed" pitchFamily="34" charset="-122"/>
                <a:cs typeface="IBM Plex Sans Condensed" pitchFamily="34" charset="-120"/>
              </a:rPr>
              <a:t>gcc -Wall -Wextra cow_demo.c -o cow_demo</a:t>
            </a:r>
            <a:endParaRPr lang="en-US" sz="1400" dirty="0"/>
          </a:p>
        </p:txBody>
      </p:sp>
      <p:sp>
        <p:nvSpPr>
          <p:cNvPr id="8" name="Text 5"/>
          <p:cNvSpPr/>
          <p:nvPr/>
        </p:nvSpPr>
        <p:spPr>
          <a:xfrm>
            <a:off x="6248244" y="4886948"/>
            <a:ext cx="5638659" cy="135930"/>
          </a:xfrm>
          <a:prstGeom prst="rect">
            <a:avLst/>
          </a:prstGeom>
          <a:noFill/>
          <a:ln/>
        </p:spPr>
        <p:txBody>
          <a:bodyPr wrap="none" lIns="0" tIns="0" rIns="0" bIns="0" rtlCol="0" anchor="t"/>
          <a:lstStyle/>
          <a:p>
            <a:pPr algn="l" indent="0" marL="0">
              <a:lnSpc>
                <a:spcPct val="85000"/>
              </a:lnSpc>
              <a:buNone/>
            </a:pPr>
            <a:r>
              <a:rPr lang="en-US" sz="1050" spc="84" kern="100" dirty="0">
                <a:solidFill>
                  <a:srgbClr val="1B3A8F"/>
                </a:solidFill>
                <a:latin typeface="IBM Plex Sans Condensed SemiBold" pitchFamily="34" charset="0"/>
                <a:ea typeface="IBM Plex Sans Condensed SemiBold" pitchFamily="34" charset="-122"/>
                <a:cs typeface="IBM Plex Sans Condensed SemiBold" pitchFamily="34" charset="-120"/>
              </a:rPr>
              <a:t>RUN</a:t>
            </a:r>
            <a:endParaRPr lang="en-US" sz="1050" dirty="0"/>
          </a:p>
        </p:txBody>
      </p:sp>
      <p:sp>
        <p:nvSpPr>
          <p:cNvPr id="9" name="Text 6"/>
          <p:cNvSpPr/>
          <p:nvPr/>
        </p:nvSpPr>
        <p:spPr>
          <a:xfrm>
            <a:off x="6248244" y="5088378"/>
            <a:ext cx="5638659" cy="216892"/>
          </a:xfrm>
          <a:prstGeom prst="rect">
            <a:avLst/>
          </a:prstGeom>
          <a:noFill/>
          <a:ln/>
        </p:spPr>
        <p:txBody>
          <a:bodyPr wrap="none" lIns="0" tIns="0" rIns="0" bIns="0" rtlCol="0" anchor="t"/>
          <a:lstStyle/>
          <a:p>
            <a:pPr algn="l" indent="0" marL="0">
              <a:lnSpc>
                <a:spcPct val="102000"/>
              </a:lnSpc>
              <a:buNone/>
            </a:pPr>
            <a:r>
              <a:rPr lang="en-US" sz="1400" dirty="0">
                <a:solidFill>
                  <a:srgbClr val="1B3A8F"/>
                </a:solidFill>
                <a:latin typeface="IBM Plex Sans Condensed" pitchFamily="34" charset="0"/>
                <a:ea typeface="IBM Plex Sans Condensed" pitchFamily="34" charset="-122"/>
                <a:cs typeface="IBM Plex Sans Condensed" pitchFamily="34" charset="-120"/>
              </a:rPr>
              <a:t>./cow_demo</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12700"/>
          </a:xfrm>
          <a:prstGeom prst="rect">
            <a:avLst/>
          </a:prstGeom>
          <a:solidFill>
            <a:srgbClr val="1B3A8F"/>
          </a:solidFill>
          <a:ln/>
        </p:spPr>
      </p:sp>
      <p:sp>
        <p:nvSpPr>
          <p:cNvPr id="3" name="Shape 1"/>
          <p:cNvSpPr/>
          <p:nvPr/>
        </p:nvSpPr>
        <p:spPr>
          <a:xfrm>
            <a:off x="0" y="6845300"/>
            <a:ext cx="12191695" cy="12700"/>
          </a:xfrm>
          <a:prstGeom prst="rect">
            <a:avLst/>
          </a:prstGeom>
          <a:solidFill>
            <a:srgbClr val="1B3A8F"/>
          </a:solidFill>
          <a:ln/>
        </p:spPr>
      </p:sp>
      <p:sp>
        <p:nvSpPr>
          <p:cNvPr id="4" name="Text 2"/>
          <p:cNvSpPr/>
          <p:nvPr/>
        </p:nvSpPr>
        <p:spPr>
          <a:xfrm>
            <a:off x="330192" y="381921"/>
            <a:ext cx="4952876" cy="135930"/>
          </a:xfrm>
          <a:prstGeom prst="rect">
            <a:avLst/>
          </a:prstGeom>
          <a:noFill/>
          <a:ln/>
        </p:spPr>
        <p:txBody>
          <a:bodyPr wrap="none" lIns="0" tIns="0" rIns="0" bIns="0" rtlCol="0" anchor="t"/>
          <a:lstStyle/>
          <a:p>
            <a:pPr algn="l" indent="0" marL="0">
              <a:lnSpc>
                <a:spcPct val="85000"/>
              </a:lnSpc>
              <a:buNone/>
            </a:pPr>
            <a:r>
              <a:rPr lang="en-US" sz="1050" spc="84" kern="100" dirty="0">
                <a:solidFill>
                  <a:srgbClr val="1B3A8F"/>
                </a:solidFill>
                <a:latin typeface="IBM Plex Sans Condensed SemiBold" pitchFamily="34" charset="0"/>
                <a:ea typeface="IBM Plex Sans Condensed SemiBold" pitchFamily="34" charset="-122"/>
                <a:cs typeface="IBM Plex Sans Condensed SemiBold" pitchFamily="34" charset="-120"/>
              </a:rPr>
              <a:t>REPRODUCTION / LIVE DEMONSTRATION</a:t>
            </a:r>
            <a:endParaRPr lang="en-US" sz="1050" dirty="0"/>
          </a:p>
        </p:txBody>
      </p:sp>
      <p:sp>
        <p:nvSpPr>
          <p:cNvPr id="5" name="Text 3"/>
          <p:cNvSpPr/>
          <p:nvPr/>
        </p:nvSpPr>
        <p:spPr>
          <a:xfrm>
            <a:off x="330192" y="613450"/>
            <a:ext cx="4622684" cy="777081"/>
          </a:xfrm>
          <a:prstGeom prst="rect">
            <a:avLst/>
          </a:prstGeom>
          <a:noFill/>
          <a:ln/>
        </p:spPr>
        <p:txBody>
          <a:bodyPr wrap="square" lIns="0" tIns="0" rIns="0" bIns="0" rtlCol="0" anchor="t">
            <a:normAutofit/>
          </a:bodyPr>
          <a:lstStyle/>
          <a:p>
            <a:pPr algn="l" indent="0" marL="0">
              <a:lnSpc>
                <a:spcPct val="75000"/>
              </a:lnSpc>
              <a:buNone/>
            </a:pPr>
            <a:r>
              <a:rPr lang="en-US" sz="3400" b="1" spc="-119" kern="100" dirty="0">
                <a:solidFill>
                  <a:srgbClr val="1B3A8F"/>
                </a:solidFill>
                <a:latin typeface="IBM Plex Sans Condensed Bold" pitchFamily="34" charset="0"/>
                <a:ea typeface="IBM Plex Sans Condensed Bold" pitchFamily="34" charset="-122"/>
                <a:cs typeface="IBM Plex Sans Condensed Bold" pitchFamily="34" charset="-120"/>
              </a:rPr>
              <a:t>THE DEMONSTRATION IS SIMPLE TO REPRODUCE</a:t>
            </a:r>
            <a:endParaRPr lang="en-US" sz="3400" dirty="0"/>
          </a:p>
        </p:txBody>
      </p:sp>
      <p:sp>
        <p:nvSpPr>
          <p:cNvPr id="6" name="Text 4"/>
          <p:cNvSpPr/>
          <p:nvPr/>
        </p:nvSpPr>
        <p:spPr>
          <a:xfrm>
            <a:off x="330192" y="1440061"/>
            <a:ext cx="4622684" cy="953294"/>
          </a:xfrm>
          <a:prstGeom prst="rect">
            <a:avLst/>
          </a:prstGeom>
          <a:noFill/>
          <a:ln/>
        </p:spPr>
        <p:txBody>
          <a:bodyPr wrap="square" lIns="0" tIns="0" rIns="0" bIns="0" rtlCol="0" anchor="t">
            <a:normAutofit/>
          </a:bodyPr>
          <a:lstStyle/>
          <a:p>
            <a:pPr algn="l" marL="284480" indent="-284480">
              <a:lnSpc>
                <a:spcPct val="102000"/>
              </a:lnSpc>
              <a:buSzPct val="100000"/>
              <a:buChar char="•"/>
            </a:pPr>
            <a:r>
              <a:rPr lang="en-US" sz="1400" dirty="0">
                <a:solidFill>
                  <a:srgbClr val="1B3A8F"/>
                </a:solidFill>
                <a:latin typeface="IBM Plex Sans Condensed" pitchFamily="34" charset="0"/>
                <a:ea typeface="IBM Plex Sans Condensed" pitchFamily="34" charset="-122"/>
                <a:cs typeface="IBM Plex Sans Condensed" pitchFamily="34" charset="-120"/>
              </a:rPr>
              <a:t>README contains project details and setup instructions</a:t>
            </a:r>
            <a:endParaRPr lang="en-US" sz="1400" dirty="0"/>
          </a:p>
          <a:p>
            <a:pPr algn="l" marL="284480" indent="-284480">
              <a:lnSpc>
                <a:spcPct val="102000"/>
              </a:lnSpc>
              <a:buSzPct val="100000"/>
              <a:buChar char="•"/>
            </a:pPr>
            <a:r>
              <a:rPr lang="en-US" sz="1400" dirty="0">
                <a:solidFill>
                  <a:srgbClr val="1B3A8F"/>
                </a:solidFill>
                <a:latin typeface="IBM Plex Sans Condensed" pitchFamily="34" charset="0"/>
                <a:ea typeface="IBM Plex Sans Condensed" pitchFamily="34" charset="-122"/>
                <a:cs typeface="IBM Plex Sans Condensed" pitchFamily="34" charset="-120"/>
              </a:rPr>
              <a:t>Source code is written in C</a:t>
            </a:r>
            <a:endParaRPr lang="en-US" sz="1400" dirty="0"/>
          </a:p>
          <a:p>
            <a:pPr algn="l" marL="284480" indent="-284480">
              <a:lnSpc>
                <a:spcPct val="102000"/>
              </a:lnSpc>
              <a:buSzPct val="100000"/>
              <a:buChar char="•"/>
            </a:pPr>
            <a:r>
              <a:rPr lang="en-US" sz="1400" dirty="0">
                <a:solidFill>
                  <a:srgbClr val="1B3A8F"/>
                </a:solidFill>
                <a:latin typeface="IBM Plex Sans Condensed" pitchFamily="34" charset="0"/>
                <a:ea typeface="IBM Plex Sans Condensed" pitchFamily="34" charset="-122"/>
                <a:cs typeface="IBM Plex Sans Condensed" pitchFamily="34" charset="-120"/>
              </a:rPr>
              <a:t>Run it on Ubuntu/Linux or Ubuntu on WSL2</a:t>
            </a:r>
            <a:endParaRPr lang="en-US" sz="1400" dirty="0"/>
          </a:p>
          <a:p>
            <a:pPr algn="l" marL="284480" indent="-284480">
              <a:lnSpc>
                <a:spcPct val="102000"/>
              </a:lnSpc>
              <a:buSzPct val="100000"/>
              <a:buChar char="•"/>
            </a:pPr>
            <a:r>
              <a:rPr lang="en-US" sz="1400" dirty="0">
                <a:solidFill>
                  <a:srgbClr val="1B3A8F"/>
                </a:solidFill>
                <a:latin typeface="IBM Plex Sans Condensed" pitchFamily="34" charset="0"/>
                <a:ea typeface="IBM Plex Sans Condensed" pitchFamily="34" charset="-122"/>
                <a:cs typeface="IBM Plex Sans Condensed" pitchFamily="34" charset="-120"/>
              </a:rPr>
              <a:t>Live demonstration: show the parent and child values</a:t>
            </a:r>
            <a:endParaRPr lang="en-US" sz="1400" dirty="0"/>
          </a:p>
        </p:txBody>
      </p:sp>
      <p:pic>
        <p:nvPicPr>
          <p:cNvPr id="7" name="Image 0" descr="preencoded.png">    </p:cNvPr>
          <p:cNvPicPr>
            <a:picLocks noChangeAspect="1"/>
          </p:cNvPicPr>
          <p:nvPr/>
        </p:nvPicPr>
        <p:blipFill>
          <a:blip r:embed="rId1"/>
          <a:stretch>
            <a:fillRect/>
          </a:stretch>
        </p:blipFill>
        <p:spPr>
          <a:xfrm>
            <a:off x="5613260" y="2124770"/>
            <a:ext cx="6248244" cy="2294632"/>
          </a:xfrm>
          <a:prstGeom prst="rect">
            <a:avLst/>
          </a:prstGeom>
        </p:spPr>
      </p:pic>
      <p:sp>
        <p:nvSpPr>
          <p:cNvPr id="8" name="Text 5"/>
          <p:cNvSpPr/>
          <p:nvPr/>
        </p:nvSpPr>
        <p:spPr>
          <a:xfrm>
            <a:off x="5613260" y="4534622"/>
            <a:ext cx="6578435" cy="135930"/>
          </a:xfrm>
          <a:prstGeom prst="rect">
            <a:avLst/>
          </a:prstGeom>
          <a:noFill/>
          <a:ln/>
        </p:spPr>
        <p:txBody>
          <a:bodyPr wrap="none" lIns="0" tIns="0" rIns="0" bIns="0" rtlCol="0" anchor="t"/>
          <a:lstStyle/>
          <a:p>
            <a:pPr algn="l" indent="0" marL="0">
              <a:lnSpc>
                <a:spcPct val="85000"/>
              </a:lnSpc>
              <a:buNone/>
            </a:pPr>
            <a:r>
              <a:rPr lang="en-US" sz="1050" spc="84" kern="100" dirty="0">
                <a:solidFill>
                  <a:srgbClr val="1B3A8F"/>
                </a:solidFill>
                <a:latin typeface="IBM Plex Sans Condensed SemiBold" pitchFamily="34" charset="0"/>
                <a:ea typeface="IBM Plex Sans Condensed SemiBold" pitchFamily="34" charset="-122"/>
                <a:cs typeface="IBM Plex Sans Condensed SemiBold" pitchFamily="34" charset="-120"/>
              </a:rPr>
              <a:t>TERMINAL-STYLE ILLUSTRATION ONLY · NO FABRICATED SCREENSHOT</a:t>
            </a:r>
            <a:endParaRPr lang="en-US" sz="1050" dirty="0"/>
          </a:p>
        </p:txBody>
      </p:sp>
      <p:sp>
        <p:nvSpPr>
          <p:cNvPr id="9" name="Shape 6"/>
          <p:cNvSpPr/>
          <p:nvPr/>
        </p:nvSpPr>
        <p:spPr>
          <a:xfrm>
            <a:off x="5270368" y="12700"/>
            <a:ext cx="25399" cy="6832600"/>
          </a:xfrm>
          <a:prstGeom prst="rect">
            <a:avLst/>
          </a:prstGeom>
          <a:solidFill>
            <a:srgbClr val="1B3A8F">
              <a:alpha val="36000"/>
            </a:srgbClr>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12700"/>
          </a:xfrm>
          <a:prstGeom prst="rect">
            <a:avLst/>
          </a:prstGeom>
          <a:solidFill>
            <a:srgbClr val="FFFFFF"/>
          </a:solidFill>
          <a:ln/>
        </p:spPr>
      </p:sp>
      <p:sp>
        <p:nvSpPr>
          <p:cNvPr id="3" name="Shape 1"/>
          <p:cNvSpPr/>
          <p:nvPr/>
        </p:nvSpPr>
        <p:spPr>
          <a:xfrm>
            <a:off x="0" y="6845300"/>
            <a:ext cx="12191695" cy="12700"/>
          </a:xfrm>
          <a:prstGeom prst="rect">
            <a:avLst/>
          </a:prstGeom>
          <a:solidFill>
            <a:srgbClr val="FFFFFF"/>
          </a:solidFill>
          <a:ln/>
        </p:spPr>
      </p:sp>
      <p:sp>
        <p:nvSpPr>
          <p:cNvPr id="4" name="Shape 2"/>
          <p:cNvSpPr/>
          <p:nvPr/>
        </p:nvSpPr>
        <p:spPr>
          <a:xfrm>
            <a:off x="0" y="12700"/>
            <a:ext cx="12191695" cy="19050"/>
          </a:xfrm>
          <a:prstGeom prst="rect">
            <a:avLst/>
          </a:prstGeom>
          <a:solidFill>
            <a:srgbClr val="FFFFFF"/>
          </a:solidFill>
          <a:ln/>
        </p:spPr>
      </p:sp>
      <p:sp>
        <p:nvSpPr>
          <p:cNvPr id="5" name="Text 3"/>
          <p:cNvSpPr/>
          <p:nvPr/>
        </p:nvSpPr>
        <p:spPr>
          <a:xfrm>
            <a:off x="304792" y="350171"/>
            <a:ext cx="4571886" cy="135930"/>
          </a:xfrm>
          <a:prstGeom prst="rect">
            <a:avLst/>
          </a:prstGeom>
          <a:noFill/>
          <a:ln/>
        </p:spPr>
        <p:txBody>
          <a:bodyPr wrap="none" lIns="0" tIns="0" rIns="0" bIns="0" rtlCol="0" anchor="t"/>
          <a:lstStyle/>
          <a:p>
            <a:pPr algn="l" indent="0" marL="0">
              <a:lnSpc>
                <a:spcPct val="85000"/>
              </a:lnSpc>
              <a:buNone/>
            </a:pPr>
            <a:r>
              <a:rPr lang="en-US" sz="1050" spc="84" kern="100" dirty="0">
                <a:solidFill>
                  <a:srgbClr val="FFFFFF"/>
                </a:solidFill>
                <a:latin typeface="IBM Plex Sans Condensed SemiBold" pitchFamily="34" charset="0"/>
                <a:ea typeface="IBM Plex Sans Condensed SemiBold" pitchFamily="34" charset="-122"/>
                <a:cs typeface="IBM Plex Sans Condensed SemiBold" pitchFamily="34" charset="-120"/>
              </a:rPr>
              <a:t>CONCLUSION / FUTURE SCOPE</a:t>
            </a:r>
            <a:endParaRPr lang="en-US" sz="1050" dirty="0"/>
          </a:p>
        </p:txBody>
      </p:sp>
      <p:sp>
        <p:nvSpPr>
          <p:cNvPr id="6" name="Text 4"/>
          <p:cNvSpPr/>
          <p:nvPr/>
        </p:nvSpPr>
        <p:spPr>
          <a:xfrm>
            <a:off x="304792" y="612180"/>
            <a:ext cx="4267093" cy="2857500"/>
          </a:xfrm>
          <a:prstGeom prst="rect">
            <a:avLst/>
          </a:prstGeom>
          <a:noFill/>
          <a:ln/>
        </p:spPr>
        <p:txBody>
          <a:bodyPr wrap="square" lIns="0" tIns="0" rIns="0" bIns="0" rtlCol="0" anchor="t">
            <a:normAutofit/>
          </a:bodyPr>
          <a:lstStyle/>
          <a:p>
            <a:pPr algn="l" indent="0" marL="0">
              <a:lnSpc>
                <a:spcPct val="75000"/>
              </a:lnSpc>
              <a:buNone/>
            </a:pPr>
            <a:r>
              <a:rPr lang="en-US" sz="5000" b="1" spc="-175" kern="100" dirty="0">
                <a:solidFill>
                  <a:srgbClr val="FFFFFF"/>
                </a:solidFill>
                <a:latin typeface="IBM Plex Sans Condensed Bold" pitchFamily="34" charset="0"/>
                <a:ea typeface="IBM Plex Sans Condensed Bold" pitchFamily="34" charset="-122"/>
                <a:cs typeface="IBM Plex Sans Condensed Bold" pitchFamily="34" charset="-120"/>
              </a:rPr>
              <a:t>COPY-ON-WRITE MAKES MEMORY BEHAVIOR VISIBLE</a:t>
            </a:r>
            <a:endParaRPr lang="en-US" sz="5000" dirty="0"/>
          </a:p>
        </p:txBody>
      </p:sp>
      <p:sp>
        <p:nvSpPr>
          <p:cNvPr id="7" name="Text 5"/>
          <p:cNvSpPr/>
          <p:nvPr/>
        </p:nvSpPr>
        <p:spPr>
          <a:xfrm>
            <a:off x="304792" y="6336054"/>
            <a:ext cx="4571886" cy="216892"/>
          </a:xfrm>
          <a:prstGeom prst="rect">
            <a:avLst/>
          </a:prstGeom>
          <a:noFill/>
          <a:ln/>
        </p:spPr>
        <p:txBody>
          <a:bodyPr wrap="none" lIns="0" tIns="0" rIns="0" bIns="0" rtlCol="0" anchor="t"/>
          <a:lstStyle/>
          <a:p>
            <a:pPr algn="l" indent="0" marL="0">
              <a:lnSpc>
                <a:spcPct val="102000"/>
              </a:lnSpc>
              <a:buNone/>
            </a:pPr>
            <a:r>
              <a:rPr lang="en-US" sz="1400" dirty="0">
                <a:solidFill>
                  <a:srgbClr val="FFFFFF"/>
                </a:solidFill>
                <a:latin typeface="IBM Plex Sans Condensed" pitchFamily="34" charset="0"/>
                <a:ea typeface="IBM Plex Sans Condensed" pitchFamily="34" charset="-122"/>
                <a:cs typeface="IBM Plex Sans Condensed" pitchFamily="34" charset="-120"/>
              </a:rPr>
              <a:t>Thank You</a:t>
            </a:r>
            <a:endParaRPr lang="en-US" sz="1400" dirty="0"/>
          </a:p>
        </p:txBody>
      </p:sp>
      <p:sp>
        <p:nvSpPr>
          <p:cNvPr id="8" name="Text 6"/>
          <p:cNvSpPr/>
          <p:nvPr/>
        </p:nvSpPr>
        <p:spPr>
          <a:xfrm>
            <a:off x="5181470" y="336550"/>
            <a:ext cx="6705432" cy="1632545"/>
          </a:xfrm>
          <a:prstGeom prst="rect">
            <a:avLst/>
          </a:prstGeom>
          <a:noFill/>
          <a:ln/>
        </p:spPr>
        <p:txBody>
          <a:bodyPr wrap="square" lIns="0" tIns="0" rIns="0" bIns="0" rtlCol="0" anchor="t">
            <a:normAutofit/>
          </a:bodyPr>
          <a:lstStyle/>
          <a:p>
            <a:pPr algn="l" marL="284480" indent="-284480">
              <a:lnSpc>
                <a:spcPct val="102000"/>
              </a:lnSpc>
              <a:buSzPct val="100000"/>
              <a:buChar char="•"/>
            </a:pPr>
            <a:r>
              <a:rPr lang="en-US" sz="1400" dirty="0">
                <a:solidFill>
                  <a:srgbClr val="FFFFFF"/>
                </a:solidFill>
                <a:latin typeface="IBM Plex Sans Condensed" pitchFamily="34" charset="0"/>
                <a:ea typeface="IBM Plex Sans Condensed" pitchFamily="34" charset="-122"/>
                <a:cs typeface="IBM Plex Sans Condensed" pitchFamily="34" charset="-120"/>
              </a:rPr>
              <a:t>Demonstrates parent–child process behavior</a:t>
            </a:r>
            <a:endParaRPr lang="en-US" sz="1400" dirty="0"/>
          </a:p>
          <a:p>
            <a:pPr algn="l" marL="284480" indent="-284480">
              <a:lnSpc>
                <a:spcPct val="102000"/>
              </a:lnSpc>
              <a:buSzPct val="100000"/>
              <a:buChar char="•"/>
            </a:pPr>
            <a:r>
              <a:rPr lang="en-US" sz="1400" dirty="0">
                <a:solidFill>
                  <a:srgbClr val="FFFFFF"/>
                </a:solidFill>
                <a:latin typeface="IBM Plex Sans Condensed" pitchFamily="34" charset="0"/>
                <a:ea typeface="IBM Plex Sans Condensed" pitchFamily="34" charset="-122"/>
                <a:cs typeface="IBM Plex Sans Condensed" pitchFamily="34" charset="-120"/>
              </a:rPr>
              <a:t>Explains process creation, Copy-on-Write, and memory isolation</a:t>
            </a:r>
            <a:endParaRPr lang="en-US" sz="1400" dirty="0"/>
          </a:p>
          <a:p>
            <a:pPr algn="l" marL="284480" indent="-284480">
              <a:lnSpc>
                <a:spcPct val="102000"/>
              </a:lnSpc>
              <a:buSzPct val="100000"/>
              <a:buChar char="•"/>
            </a:pPr>
            <a:r>
              <a:rPr lang="en-US" sz="1400" dirty="0">
                <a:solidFill>
                  <a:srgbClr val="FFFFFF"/>
                </a:solidFill>
                <a:latin typeface="IBM Plex Sans Condensed" pitchFamily="34" charset="0"/>
                <a:ea typeface="IBM Plex Sans Condensed" pitchFamily="34" charset="-122"/>
                <a:cs typeface="IBM Plex Sans Condensed" pitchFamily="34" charset="-120"/>
              </a:rPr>
              <a:t>Helps students understand Linux memory management</a:t>
            </a:r>
            <a:endParaRPr lang="en-US" sz="1400" dirty="0"/>
          </a:p>
          <a:p>
            <a:pPr algn="l" marL="284480" indent="-284480">
              <a:lnSpc>
                <a:spcPct val="102000"/>
              </a:lnSpc>
              <a:buSzPct val="100000"/>
              <a:buChar char="•"/>
            </a:pPr>
            <a:r>
              <a:rPr lang="en-US" sz="1400" dirty="0">
                <a:solidFill>
                  <a:srgbClr val="FFFFFF"/>
                </a:solidFill>
                <a:latin typeface="IBM Plex Sans Condensed" pitchFamily="34" charset="0"/>
                <a:ea typeface="IBM Plex Sans Condensed" pitchFamily="34" charset="-122"/>
                <a:cs typeface="IBM Plex Sans Condensed" pitchFamily="34" charset="-120"/>
              </a:rPr>
              <a:t>Current program demonstrates values, not physical page frames or performance measurements</a:t>
            </a:r>
            <a:endParaRPr lang="en-US" sz="1400" dirty="0"/>
          </a:p>
          <a:p>
            <a:pPr algn="l" marL="284480" indent="-284480">
              <a:lnSpc>
                <a:spcPct val="102000"/>
              </a:lnSpc>
              <a:buSzPct val="100000"/>
              <a:buChar char="•"/>
            </a:pPr>
            <a:r>
              <a:rPr lang="en-US" sz="1400" dirty="0">
                <a:solidFill>
                  <a:srgbClr val="FFFFFF"/>
                </a:solidFill>
                <a:latin typeface="IBM Plex Sans Condensed" pitchFamily="34" charset="0"/>
                <a:ea typeface="IBM Plex Sans Condensed" pitchFamily="34" charset="-122"/>
                <a:cs typeface="IBM Plex Sans Condensed" pitchFamily="34" charset="-120"/>
              </a:rPr>
              <a:t>Future scope: interactive input, memory-usage measurements, and tools to inspect page behavior</a:t>
            </a:r>
            <a:endParaRPr lang="en-US" sz="1400" dirty="0"/>
          </a:p>
        </p:txBody>
      </p:sp>
      <p:sp>
        <p:nvSpPr>
          <p:cNvPr id="9" name="Shape 7"/>
          <p:cNvSpPr/>
          <p:nvPr/>
        </p:nvSpPr>
        <p:spPr>
          <a:xfrm>
            <a:off x="4870328" y="31750"/>
            <a:ext cx="12700" cy="6813550"/>
          </a:xfrm>
          <a:prstGeom prst="rect">
            <a:avLst/>
          </a:prstGeom>
          <a:solidFill>
            <a:srgbClr val="FFFFF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2026-10-17T05:46:58Z</dcterms:created>
  <dcterms:modified xsi:type="dcterms:W3CDTF">2026-10-17T05:46:58Z</dcterms:modified>
</cp:coreProperties>
</file>